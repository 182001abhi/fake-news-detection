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0" r:id="rId3"/>
    <p:sldId id="257" r:id="rId4"/>
    <p:sldId id="258" r:id="rId5"/>
    <p:sldId id="259" r:id="rId6"/>
    <p:sldId id="260" r:id="rId7"/>
    <p:sldId id="261" r:id="rId8"/>
    <p:sldId id="262" r:id="rId9"/>
    <p:sldId id="263" r:id="rId10"/>
    <p:sldId id="279" r:id="rId11"/>
    <p:sldId id="266" r:id="rId12"/>
    <p:sldId id="267" r:id="rId13"/>
    <p:sldId id="271" r:id="rId14"/>
    <p:sldId id="272" r:id="rId15"/>
    <p:sldId id="274" r:id="rId16"/>
    <p:sldId id="275" r:id="rId17"/>
    <p:sldId id="276" r:id="rId18"/>
    <p:sldId id="277" r:id="rId19"/>
    <p:sldId id="278" r:id="rId20"/>
    <p:sldId id="269" r:id="rId21"/>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876"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9/4/2024</a:t>
            </a:fld>
            <a:endParaRPr lang="en-US"/>
          </a:p>
        </p:txBody>
      </p:sp>
      <p:sp>
        <p:nvSpPr>
          <p:cNvPr id="6" name="Holder 6"/>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200" b="0" i="0">
                <a:solidFill>
                  <a:srgbClr val="171717"/>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9/4/2024</a:t>
            </a:fld>
            <a:endParaRPr lang="en-US"/>
          </a:p>
        </p:txBody>
      </p:sp>
      <p:sp>
        <p:nvSpPr>
          <p:cNvPr id="6" name="Holder 6"/>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9/4/2024</a:t>
            </a:fld>
            <a:endParaRPr lang="en-US"/>
          </a:p>
        </p:txBody>
      </p:sp>
      <p:sp>
        <p:nvSpPr>
          <p:cNvPr id="7" name="Holder 7"/>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9/4/2024</a:t>
            </a:fld>
            <a:endParaRPr lang="en-US"/>
          </a:p>
        </p:txBody>
      </p:sp>
      <p:sp>
        <p:nvSpPr>
          <p:cNvPr id="5" name="Holder 5"/>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9/4/2024</a:t>
            </a:fld>
            <a:endParaRPr lang="en-US"/>
          </a:p>
        </p:txBody>
      </p:sp>
      <p:sp>
        <p:nvSpPr>
          <p:cNvPr id="4" name="Holder 4"/>
          <p:cNvSpPr>
            <a:spLocks noGrp="1"/>
          </p:cNvSpPr>
          <p:nvPr>
            <p:ph type="sldNum" sz="quarter" idx="7"/>
          </p:nvPr>
        </p:nvSpPr>
        <p:spPr/>
        <p:txBody>
          <a:bodyPr lIns="0" tIns="0" rIns="0" bIns="0"/>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3999" cy="830579"/>
          </a:xfrm>
          <a:prstGeom prst="rect">
            <a:avLst/>
          </a:prstGeom>
        </p:spPr>
      </p:pic>
      <p:sp>
        <p:nvSpPr>
          <p:cNvPr id="2" name="Holder 2"/>
          <p:cNvSpPr>
            <a:spLocks noGrp="1"/>
          </p:cNvSpPr>
          <p:nvPr>
            <p:ph type="title"/>
          </p:nvPr>
        </p:nvSpPr>
        <p:spPr>
          <a:xfrm>
            <a:off x="2817875" y="209169"/>
            <a:ext cx="3508248" cy="391159"/>
          </a:xfrm>
          <a:prstGeom prst="rect">
            <a:avLst/>
          </a:prstGeom>
        </p:spPr>
        <p:txBody>
          <a:bodyPr wrap="square" lIns="0" tIns="0" rIns="0" bIns="0">
            <a:spAutoFit/>
          </a:bodyPr>
          <a:lstStyle>
            <a:lvl1pPr>
              <a:defRPr sz="2400" b="1"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276936" y="1488185"/>
            <a:ext cx="8590127" cy="2854960"/>
          </a:xfrm>
          <a:prstGeom prst="rect">
            <a:avLst/>
          </a:prstGeom>
        </p:spPr>
        <p:txBody>
          <a:bodyPr wrap="square" lIns="0" tIns="0" rIns="0" bIns="0">
            <a:spAutoFit/>
          </a:bodyPr>
          <a:lstStyle>
            <a:lvl1pPr>
              <a:defRPr sz="1200" b="0" i="0">
                <a:solidFill>
                  <a:srgbClr val="171717"/>
                </a:solidFill>
                <a:latin typeface="Times New Roman"/>
                <a:cs typeface="Times New Roman"/>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9/4/2024</a:t>
            </a:fld>
            <a:endParaRPr lang="en-US"/>
          </a:p>
        </p:txBody>
      </p:sp>
      <p:sp>
        <p:nvSpPr>
          <p:cNvPr id="6" name="Holder 6"/>
          <p:cNvSpPr>
            <a:spLocks noGrp="1"/>
          </p:cNvSpPr>
          <p:nvPr>
            <p:ph type="sldNum" sz="quarter" idx="7"/>
          </p:nvPr>
        </p:nvSpPr>
        <p:spPr>
          <a:xfrm>
            <a:off x="8403335" y="4818684"/>
            <a:ext cx="231775" cy="177800"/>
          </a:xfrm>
          <a:prstGeom prst="rect">
            <a:avLst/>
          </a:prstGeom>
        </p:spPr>
        <p:txBody>
          <a:bodyPr wrap="square" lIns="0" tIns="0" rIns="0" bIns="0">
            <a:spAutoFit/>
          </a:bodyPr>
          <a:lstStyle>
            <a:lvl1pPr>
              <a:defRPr sz="1200" b="0" i="0">
                <a:solidFill>
                  <a:srgbClr val="878787"/>
                </a:solidFill>
                <a:latin typeface="Calibri"/>
                <a:cs typeface="Calibri"/>
              </a:defRPr>
            </a:lvl1pPr>
          </a:lstStyle>
          <a:p>
            <a:pPr marL="381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3999" cy="806196"/>
          </a:xfrm>
          <a:prstGeom prst="rect">
            <a:avLst/>
          </a:prstGeom>
        </p:spPr>
      </p:pic>
      <p:sp>
        <p:nvSpPr>
          <p:cNvPr id="8" name="object 8"/>
          <p:cNvSpPr txBox="1">
            <a:spLocks noGrp="1"/>
          </p:cNvSpPr>
          <p:nvPr>
            <p:ph type="title"/>
          </p:nvPr>
        </p:nvSpPr>
        <p:spPr>
          <a:xfrm>
            <a:off x="76200" y="83946"/>
            <a:ext cx="9067800" cy="566822"/>
          </a:xfrm>
          <a:prstGeom prst="rect">
            <a:avLst/>
          </a:prstGeom>
        </p:spPr>
        <p:txBody>
          <a:bodyPr vert="horz" wrap="square" lIns="0" tIns="12700" rIns="0" bIns="0" rtlCol="0">
            <a:spAutoFit/>
          </a:bodyPr>
          <a:lstStyle/>
          <a:p>
            <a:pPr marL="12700" algn="ctr">
              <a:lnSpc>
                <a:spcPct val="100000"/>
              </a:lnSpc>
              <a:spcBef>
                <a:spcPts val="100"/>
              </a:spcBef>
            </a:pPr>
            <a:r>
              <a:rPr lang="en-US" sz="3600" b="0" spc="-150" dirty="0">
                <a:effectLst>
                  <a:outerShdw blurRad="38100" dist="38100" dir="2700000" algn="tl">
                    <a:srgbClr val="000000">
                      <a:alpha val="43137"/>
                    </a:srgbClr>
                  </a:outerShdw>
                </a:effectLst>
                <a:latin typeface="American Text" panose="02000503020000020004" pitchFamily="2" charset="0"/>
                <a:cs typeface="Trebuchet MS"/>
              </a:rPr>
              <a:t>Brindavan college of Engineering</a:t>
            </a:r>
            <a:endParaRPr sz="3600" spc="-150" dirty="0">
              <a:effectLst>
                <a:outerShdw blurRad="38100" dist="38100" dir="2700000" algn="tl">
                  <a:srgbClr val="000000">
                    <a:alpha val="43137"/>
                  </a:srgbClr>
                </a:outerShdw>
              </a:effectLst>
              <a:latin typeface="American Text" panose="02000503020000020004" pitchFamily="2" charset="0"/>
              <a:cs typeface="Trebuchet MS"/>
            </a:endParaRPr>
          </a:p>
        </p:txBody>
      </p:sp>
      <p:pic>
        <p:nvPicPr>
          <p:cNvPr id="9" name="object 9"/>
          <p:cNvPicPr/>
          <p:nvPr/>
        </p:nvPicPr>
        <p:blipFill>
          <a:blip r:embed="rId3" cstate="print"/>
          <a:stretch>
            <a:fillRect/>
          </a:stretch>
        </p:blipFill>
        <p:spPr>
          <a:xfrm>
            <a:off x="3733800" y="838435"/>
            <a:ext cx="1447800" cy="1014187"/>
          </a:xfrm>
          <a:prstGeom prst="rect">
            <a:avLst/>
          </a:prstGeom>
        </p:spPr>
      </p:pic>
      <p:sp>
        <p:nvSpPr>
          <p:cNvPr id="7" name="TextBox 6">
            <a:extLst>
              <a:ext uri="{FF2B5EF4-FFF2-40B4-BE49-F238E27FC236}">
                <a16:creationId xmlns:a16="http://schemas.microsoft.com/office/drawing/2014/main" id="{80155CBA-1534-495B-9F28-7C1C605F6070}"/>
              </a:ext>
            </a:extLst>
          </p:cNvPr>
          <p:cNvSpPr txBox="1"/>
          <p:nvPr/>
        </p:nvSpPr>
        <p:spPr>
          <a:xfrm>
            <a:off x="2136955" y="2037287"/>
            <a:ext cx="4946290" cy="646331"/>
          </a:xfrm>
          <a:prstGeom prst="rect">
            <a:avLst/>
          </a:prstGeom>
          <a:noFill/>
        </p:spPr>
        <p:txBody>
          <a:bodyPr wrap="none" rtlCol="0">
            <a:spAutoFit/>
          </a:bodyPr>
          <a:lstStyle/>
          <a:p>
            <a:r>
              <a:rPr lang="en-US" sz="1800" b="1" dirty="0">
                <a:latin typeface="Times New Roman"/>
                <a:cs typeface="Times New Roman"/>
              </a:rPr>
              <a:t>Department</a:t>
            </a:r>
            <a:r>
              <a:rPr lang="en-US" sz="1800" b="1" spc="-5" dirty="0">
                <a:latin typeface="Times New Roman"/>
                <a:cs typeface="Times New Roman"/>
              </a:rPr>
              <a:t> </a:t>
            </a:r>
            <a:r>
              <a:rPr lang="en-US" sz="1800" b="1" dirty="0">
                <a:latin typeface="Times New Roman"/>
                <a:cs typeface="Times New Roman"/>
              </a:rPr>
              <a:t>of </a:t>
            </a:r>
            <a:r>
              <a:rPr lang="en-US" sz="1800" b="1" spc="-5" dirty="0">
                <a:latin typeface="Times New Roman"/>
                <a:cs typeface="Times New Roman"/>
              </a:rPr>
              <a:t>Master Of Computer Application</a:t>
            </a:r>
            <a:endParaRPr lang="en-US" sz="1800" dirty="0">
              <a:latin typeface="Times New Roman"/>
              <a:cs typeface="Times New Roman"/>
            </a:endParaRPr>
          </a:p>
          <a:p>
            <a:endParaRPr lang="en-IN" dirty="0"/>
          </a:p>
        </p:txBody>
      </p:sp>
      <p:sp>
        <p:nvSpPr>
          <p:cNvPr id="10" name="TextBox 9">
            <a:extLst>
              <a:ext uri="{FF2B5EF4-FFF2-40B4-BE49-F238E27FC236}">
                <a16:creationId xmlns:a16="http://schemas.microsoft.com/office/drawing/2014/main" id="{1327FED6-22FC-4808-8475-9F0E67C0E48A}"/>
              </a:ext>
            </a:extLst>
          </p:cNvPr>
          <p:cNvSpPr txBox="1"/>
          <p:nvPr/>
        </p:nvSpPr>
        <p:spPr>
          <a:xfrm>
            <a:off x="3316297" y="2360452"/>
            <a:ext cx="2368341" cy="369332"/>
          </a:xfrm>
          <a:prstGeom prst="rect">
            <a:avLst/>
          </a:prstGeom>
          <a:noFill/>
        </p:spPr>
        <p:txBody>
          <a:bodyPr wrap="none" rtlCol="0">
            <a:spAutoFit/>
          </a:bodyPr>
          <a:lstStyle/>
          <a:p>
            <a:r>
              <a:rPr lang="en-US" sz="1800" b="1" dirty="0">
                <a:latin typeface="Times New Roman"/>
                <a:cs typeface="Times New Roman"/>
              </a:rPr>
              <a:t>A</a:t>
            </a:r>
            <a:r>
              <a:rPr lang="en-US" sz="1800" b="1" spc="-100" dirty="0">
                <a:latin typeface="Times New Roman"/>
                <a:cs typeface="Times New Roman"/>
              </a:rPr>
              <a:t> </a:t>
            </a:r>
            <a:r>
              <a:rPr lang="en-US" sz="1800" b="1" spc="-5" dirty="0">
                <a:latin typeface="Times New Roman"/>
                <a:cs typeface="Times New Roman"/>
              </a:rPr>
              <a:t>Project Phase – 2 </a:t>
            </a:r>
            <a:r>
              <a:rPr lang="en-US" sz="1800" b="1" dirty="0">
                <a:latin typeface="Times New Roman"/>
                <a:cs typeface="Times New Roman"/>
              </a:rPr>
              <a:t>on</a:t>
            </a:r>
            <a:endParaRPr lang="en-IN" dirty="0"/>
          </a:p>
        </p:txBody>
      </p:sp>
      <p:sp>
        <p:nvSpPr>
          <p:cNvPr id="11" name="TextBox 10">
            <a:extLst>
              <a:ext uri="{FF2B5EF4-FFF2-40B4-BE49-F238E27FC236}">
                <a16:creationId xmlns:a16="http://schemas.microsoft.com/office/drawing/2014/main" id="{6B311B6B-E6B7-4FFB-87E6-D2A2750C2B89}"/>
              </a:ext>
            </a:extLst>
          </p:cNvPr>
          <p:cNvSpPr txBox="1"/>
          <p:nvPr/>
        </p:nvSpPr>
        <p:spPr>
          <a:xfrm>
            <a:off x="76200" y="2724150"/>
            <a:ext cx="8915400" cy="738664"/>
          </a:xfrm>
          <a:prstGeom prst="rect">
            <a:avLst/>
          </a:prstGeom>
          <a:noFill/>
        </p:spPr>
        <p:txBody>
          <a:bodyPr wrap="square" rtlCol="0">
            <a:spAutoFit/>
          </a:bodyPr>
          <a:lstStyle/>
          <a:p>
            <a:pPr algn="ctr"/>
            <a:r>
              <a:rPr lang="en-IN" sz="2400" b="1" spc="-10" dirty="0">
                <a:solidFill>
                  <a:srgbClr val="FF0000"/>
                </a:solidFill>
                <a:latin typeface="Times New Roman"/>
                <a:cs typeface="Times New Roman"/>
              </a:rPr>
              <a:t>“Fake News Detection</a:t>
            </a:r>
            <a:r>
              <a:rPr lang="en-IN" sz="2400" b="1" spc="-5" dirty="0">
                <a:solidFill>
                  <a:srgbClr val="FF0000"/>
                </a:solidFill>
                <a:latin typeface="Times New Roman"/>
                <a:cs typeface="Times New Roman"/>
              </a:rPr>
              <a:t>”</a:t>
            </a:r>
            <a:endParaRPr lang="en-IN" sz="2400" b="1" dirty="0">
              <a:latin typeface="Times New Roman"/>
              <a:cs typeface="Times New Roman"/>
            </a:endParaRPr>
          </a:p>
          <a:p>
            <a:pPr algn="ctr"/>
            <a:endParaRPr lang="en-IN" dirty="0"/>
          </a:p>
        </p:txBody>
      </p:sp>
      <p:sp>
        <p:nvSpPr>
          <p:cNvPr id="12" name="TextBox 11">
            <a:extLst>
              <a:ext uri="{FF2B5EF4-FFF2-40B4-BE49-F238E27FC236}">
                <a16:creationId xmlns:a16="http://schemas.microsoft.com/office/drawing/2014/main" id="{FCE16BE2-9B08-4DF0-ACF3-73DAF2831E6B}"/>
              </a:ext>
            </a:extLst>
          </p:cNvPr>
          <p:cNvSpPr txBox="1"/>
          <p:nvPr/>
        </p:nvSpPr>
        <p:spPr>
          <a:xfrm>
            <a:off x="6096000" y="3200221"/>
            <a:ext cx="2971800" cy="1200329"/>
          </a:xfrm>
          <a:prstGeom prst="rect">
            <a:avLst/>
          </a:prstGeom>
          <a:noFill/>
        </p:spPr>
        <p:txBody>
          <a:bodyPr wrap="square" rtlCol="0">
            <a:spAutoFit/>
          </a:bodyPr>
          <a:lstStyle/>
          <a:p>
            <a:r>
              <a:rPr lang="en-IN" sz="1800" b="0" i="0" u="none" strike="noStrike" baseline="0" dirty="0">
                <a:latin typeface="Times New Roman" panose="02020603050405020304" pitchFamily="18" charset="0"/>
                <a:cs typeface="Times New Roman" panose="02020603050405020304" pitchFamily="18" charset="0"/>
              </a:rPr>
              <a:t>EXTERNAL GUIDE:</a:t>
            </a:r>
          </a:p>
          <a:p>
            <a:r>
              <a:rPr lang="en-IN" sz="1800" b="0" i="0" u="none" strike="noStrike" baseline="0" dirty="0">
                <a:latin typeface="Times New Roman" panose="02020603050405020304" pitchFamily="18" charset="0"/>
                <a:cs typeface="Times New Roman" panose="02020603050405020304" pitchFamily="18" charset="0"/>
              </a:rPr>
              <a:t>MR. ABHISHEK BELAVI</a:t>
            </a:r>
          </a:p>
          <a:p>
            <a:r>
              <a:rPr lang="en-US" sz="1800" b="0" i="0" u="none" strike="noStrike" baseline="0" dirty="0">
                <a:latin typeface="Times New Roman" panose="02020603050405020304" pitchFamily="18" charset="0"/>
                <a:cs typeface="Times New Roman" panose="02020603050405020304" pitchFamily="18" charset="0"/>
              </a:rPr>
              <a:t>Managing Director</a:t>
            </a:r>
          </a:p>
          <a:p>
            <a:r>
              <a:rPr lang="en-IN" sz="1800" b="0" i="0" u="none" strike="noStrike" baseline="0" dirty="0">
                <a:latin typeface="Times New Roman" panose="02020603050405020304" pitchFamily="18" charset="0"/>
                <a:cs typeface="Times New Roman" panose="02020603050405020304" pitchFamily="18" charset="0"/>
              </a:rPr>
              <a:t>Ligand Software Solutions</a:t>
            </a:r>
            <a:endParaRPr lang="en-IN" dirty="0"/>
          </a:p>
        </p:txBody>
      </p:sp>
      <p:sp>
        <p:nvSpPr>
          <p:cNvPr id="13" name="TextBox 12">
            <a:extLst>
              <a:ext uri="{FF2B5EF4-FFF2-40B4-BE49-F238E27FC236}">
                <a16:creationId xmlns:a16="http://schemas.microsoft.com/office/drawing/2014/main" id="{A35BAC41-9D7D-4651-A0FF-3E1A5C52CC85}"/>
              </a:ext>
            </a:extLst>
          </p:cNvPr>
          <p:cNvSpPr txBox="1"/>
          <p:nvPr/>
        </p:nvSpPr>
        <p:spPr>
          <a:xfrm>
            <a:off x="0" y="3276421"/>
            <a:ext cx="3200400" cy="1200329"/>
          </a:xfrm>
          <a:prstGeom prst="rect">
            <a:avLst/>
          </a:prstGeom>
          <a:noFill/>
        </p:spPr>
        <p:txBody>
          <a:bodyPr wrap="square" rtlCol="0">
            <a:spAutoFit/>
          </a:bodyPr>
          <a:lstStyle/>
          <a:p>
            <a:r>
              <a:rPr lang="en-IN" sz="1800" b="0" i="0" u="none" strike="noStrike" baseline="0" dirty="0">
                <a:latin typeface="Times New Roman" panose="02020603050405020304" pitchFamily="18" charset="0"/>
                <a:cs typeface="Times New Roman" panose="02020603050405020304" pitchFamily="18" charset="0"/>
              </a:rPr>
              <a:t>INTERNAL GUIDE: </a:t>
            </a:r>
            <a:endParaRPr lang="en-IN" dirty="0">
              <a:latin typeface="Times New Roman" panose="02020603050405020304" pitchFamily="18" charset="0"/>
              <a:cs typeface="Times New Roman" panose="02020603050405020304" pitchFamily="18" charset="0"/>
            </a:endParaRPr>
          </a:p>
          <a:p>
            <a:r>
              <a:rPr lang="en-IN" sz="1800" b="0" i="0" u="none" strike="noStrike" baseline="0" dirty="0">
                <a:latin typeface="Times New Roman" panose="02020603050405020304" pitchFamily="18" charset="0"/>
                <a:cs typeface="Times New Roman" panose="02020603050405020304" pitchFamily="18" charset="0"/>
              </a:rPr>
              <a:t>PROF. RONGALI YER NAIDU </a:t>
            </a:r>
            <a:endParaRPr lang="en-IN" dirty="0">
              <a:latin typeface="Times New Roman" panose="02020603050405020304" pitchFamily="18" charset="0"/>
              <a:cs typeface="Times New Roman" panose="02020603050405020304" pitchFamily="18" charset="0"/>
            </a:endParaRPr>
          </a:p>
          <a:p>
            <a:r>
              <a:rPr lang="en-US" sz="1800" b="0" i="0" u="none" strike="noStrike" baseline="0" dirty="0">
                <a:latin typeface="Times New Roman" panose="02020603050405020304" pitchFamily="18" charset="0"/>
                <a:cs typeface="Times New Roman" panose="02020603050405020304" pitchFamily="18" charset="0"/>
              </a:rPr>
              <a:t>HOD, Dept of MCA</a:t>
            </a:r>
          </a:p>
          <a:p>
            <a:endParaRPr lang="en-IN" dirty="0"/>
          </a:p>
        </p:txBody>
      </p:sp>
      <p:sp>
        <p:nvSpPr>
          <p:cNvPr id="3" name="TextBox 2">
            <a:extLst>
              <a:ext uri="{FF2B5EF4-FFF2-40B4-BE49-F238E27FC236}">
                <a16:creationId xmlns:a16="http://schemas.microsoft.com/office/drawing/2014/main" id="{F44C9C45-03DD-4A00-8D01-675733627A09}"/>
              </a:ext>
            </a:extLst>
          </p:cNvPr>
          <p:cNvSpPr txBox="1"/>
          <p:nvPr/>
        </p:nvSpPr>
        <p:spPr>
          <a:xfrm>
            <a:off x="0" y="4400550"/>
            <a:ext cx="9143999" cy="646331"/>
          </a:xfrm>
          <a:prstGeom prst="rect">
            <a:avLst/>
          </a:prstGeom>
          <a:noFill/>
        </p:spPr>
        <p:txBody>
          <a:bodyPr wrap="square" rtlCol="0">
            <a:spAutoFit/>
          </a:bodyPr>
          <a:lstStyle/>
          <a:p>
            <a:pPr algn="ctr"/>
            <a:r>
              <a:rPr lang="en-US" dirty="0"/>
              <a:t>BY </a:t>
            </a:r>
          </a:p>
          <a:p>
            <a:pPr algn="ctr"/>
            <a:r>
              <a:rPr lang="en-US" dirty="0"/>
              <a:t>ABHISHEK TAHASILDAR(1BO22MC002)</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4C44E-E97C-4492-8625-AF7C075916EE}"/>
              </a:ext>
            </a:extLst>
          </p:cNvPr>
          <p:cNvSpPr>
            <a:spLocks noGrp="1"/>
          </p:cNvSpPr>
          <p:nvPr>
            <p:ph type="title"/>
          </p:nvPr>
        </p:nvSpPr>
        <p:spPr>
          <a:xfrm>
            <a:off x="2817875" y="209169"/>
            <a:ext cx="3508248" cy="369332"/>
          </a:xfrm>
        </p:spPr>
        <p:txBody>
          <a:bodyPr/>
          <a:lstStyle/>
          <a:p>
            <a:r>
              <a:rPr lang="en-US" dirty="0"/>
              <a:t>COMPANY PROFILE</a:t>
            </a:r>
            <a:endParaRPr lang="en-IN" dirty="0"/>
          </a:p>
        </p:txBody>
      </p:sp>
      <p:sp>
        <p:nvSpPr>
          <p:cNvPr id="3" name="Text Placeholder 2">
            <a:extLst>
              <a:ext uri="{FF2B5EF4-FFF2-40B4-BE49-F238E27FC236}">
                <a16:creationId xmlns:a16="http://schemas.microsoft.com/office/drawing/2014/main" id="{FE1B4E19-D906-44BF-824B-498093A4A8DA}"/>
              </a:ext>
            </a:extLst>
          </p:cNvPr>
          <p:cNvSpPr>
            <a:spLocks noGrp="1"/>
          </p:cNvSpPr>
          <p:nvPr>
            <p:ph type="body" idx="1"/>
          </p:nvPr>
        </p:nvSpPr>
        <p:spPr>
          <a:xfrm>
            <a:off x="304800" y="2539375"/>
            <a:ext cx="8562263" cy="2215991"/>
          </a:xfrm>
        </p:spPr>
        <p:txBody>
          <a:bodyPr/>
          <a:lstStyle/>
          <a:p>
            <a:pPr algn="just"/>
            <a:r>
              <a:rPr lang="en-US" sz="1800" b="0" i="0" u="none" strike="noStrike" baseline="0" dirty="0">
                <a:solidFill>
                  <a:srgbClr val="000000"/>
                </a:solidFill>
                <a:latin typeface="Times New Roman" panose="02020603050405020304" pitchFamily="18" charset="0"/>
              </a:rPr>
              <a:t>The company is situated in </a:t>
            </a:r>
            <a:r>
              <a:rPr lang="en-US" sz="1800" b="0" i="0" u="none" strike="noStrike" baseline="0" dirty="0" err="1">
                <a:solidFill>
                  <a:srgbClr val="000000"/>
                </a:solidFill>
                <a:latin typeface="Times New Roman" panose="02020603050405020304" pitchFamily="18" charset="0"/>
              </a:rPr>
              <a:t>Sankeshwar</a:t>
            </a:r>
            <a:r>
              <a:rPr lang="en-US" sz="1800" b="0" i="0" u="none" strike="noStrike" baseline="0" dirty="0">
                <a:solidFill>
                  <a:srgbClr val="000000"/>
                </a:solidFill>
                <a:latin typeface="Times New Roman" panose="02020603050405020304" pitchFamily="18" charset="0"/>
              </a:rPr>
              <a:t>. Ligand Software Solutions is an Indian firm with its headquarters located in </a:t>
            </a:r>
            <a:r>
              <a:rPr lang="en-US" sz="1800" b="0" i="0" u="none" strike="noStrike" baseline="0" dirty="0" err="1">
                <a:solidFill>
                  <a:srgbClr val="000000"/>
                </a:solidFill>
                <a:latin typeface="Times New Roman" panose="02020603050405020304" pitchFamily="18" charset="0"/>
              </a:rPr>
              <a:t>Sankeshwar</a:t>
            </a:r>
            <a:r>
              <a:rPr lang="en-US" sz="1800" b="0" i="0" u="none" strike="noStrike" baseline="0" dirty="0">
                <a:solidFill>
                  <a:srgbClr val="000000"/>
                </a:solidFill>
                <a:latin typeface="Times New Roman" panose="02020603050405020304" pitchFamily="18" charset="0"/>
              </a:rPr>
              <a:t> since 2011. A group of technocrats and engineers with extensive backgrounds in the software sector are pushing it. Their combined knowledge and unwavering commitment have allowed the company to quickly grow its clientele throughout the world . The company provides domain + hosting, software development, website promotion, Flash and animation, online and internet marketing, logo design, website development, and website promotion services in India at very reasonable prices while upholding the highest standards of quality and punctuality. </a:t>
            </a:r>
            <a:endParaRPr lang="en-IN" dirty="0"/>
          </a:p>
        </p:txBody>
      </p:sp>
      <p:pic>
        <p:nvPicPr>
          <p:cNvPr id="5" name="Picture 4">
            <a:extLst>
              <a:ext uri="{FF2B5EF4-FFF2-40B4-BE49-F238E27FC236}">
                <a16:creationId xmlns:a16="http://schemas.microsoft.com/office/drawing/2014/main" id="{AEE1E0E1-D8D4-487F-AD67-9D6F72CD2FA6}"/>
              </a:ext>
            </a:extLst>
          </p:cNvPr>
          <p:cNvPicPr>
            <a:picLocks noChangeAspect="1"/>
          </p:cNvPicPr>
          <p:nvPr/>
        </p:nvPicPr>
        <p:blipFill>
          <a:blip r:embed="rId2"/>
          <a:stretch>
            <a:fillRect/>
          </a:stretch>
        </p:blipFill>
        <p:spPr>
          <a:xfrm>
            <a:off x="3276600" y="1047750"/>
            <a:ext cx="2390115" cy="1358020"/>
          </a:xfrm>
          <a:prstGeom prst="rect">
            <a:avLst/>
          </a:prstGeom>
        </p:spPr>
      </p:pic>
    </p:spTree>
    <p:extLst>
      <p:ext uri="{BB962C8B-B14F-4D97-AF65-F5344CB8AC3E}">
        <p14:creationId xmlns:p14="http://schemas.microsoft.com/office/powerpoint/2010/main" val="99250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207645"/>
            <a:ext cx="2654172" cy="382156"/>
          </a:xfrm>
          <a:prstGeom prst="rect">
            <a:avLst/>
          </a:prstGeom>
        </p:spPr>
        <p:txBody>
          <a:bodyPr vert="horz" wrap="square" lIns="0" tIns="12700" rIns="0" bIns="0" rtlCol="0">
            <a:spAutoFit/>
          </a:bodyPr>
          <a:lstStyle/>
          <a:p>
            <a:pPr marL="12700">
              <a:lnSpc>
                <a:spcPct val="100000"/>
              </a:lnSpc>
              <a:spcBef>
                <a:spcPts val="100"/>
              </a:spcBef>
            </a:pPr>
            <a:r>
              <a:rPr lang="en-US" spc="-5" dirty="0"/>
              <a:t>ABOUT PROJECT</a:t>
            </a:r>
            <a:endParaRPr spc="-5" dirty="0"/>
          </a:p>
        </p:txBody>
      </p:sp>
      <p:sp>
        <p:nvSpPr>
          <p:cNvPr id="3" name="object 3"/>
          <p:cNvSpPr txBox="1"/>
          <p:nvPr/>
        </p:nvSpPr>
        <p:spPr>
          <a:xfrm>
            <a:off x="723798" y="1504950"/>
            <a:ext cx="7696404" cy="2505814"/>
          </a:xfrm>
          <a:prstGeom prst="rect">
            <a:avLst/>
          </a:prstGeom>
        </p:spPr>
        <p:txBody>
          <a:bodyPr vert="horz" wrap="square" lIns="0" tIns="12700" rIns="0" bIns="0" rtlCol="0">
            <a:spAutoFit/>
          </a:bodyPr>
          <a:lstStyle/>
          <a:p>
            <a:pPr algn="just"/>
            <a:endParaRPr lang="en-IN" sz="1800" b="0" i="0" u="none" strike="noStrike" baseline="0" dirty="0">
              <a:solidFill>
                <a:srgbClr val="000000"/>
              </a:solidFill>
              <a:latin typeface="Times New Roman" panose="02020603050405020304" pitchFamily="18" charset="0"/>
            </a:endParaRPr>
          </a:p>
          <a:p>
            <a:pPr algn="just"/>
            <a:r>
              <a:rPr lang="en-US" sz="1800" b="0" i="0" u="none" strike="noStrike" baseline="0" dirty="0">
                <a:solidFill>
                  <a:srgbClr val="000000"/>
                </a:solidFill>
                <a:latin typeface="Times New Roman" panose="02020603050405020304" pitchFamily="18" charset="0"/>
              </a:rPr>
              <a:t>Introduction to NLP-Based Fake News Detection In today's digital world, fake news / false information presented as truth as become a major issue. The rapid spread of such misinformation through online platforms can have serious social and political effects. To address this, NLP has research and technological advancement aimed at preventing the false information, branch of artificial intelligence, focuses on enabling computers to understand, interpret, and generate human language. By applying NLP techniques like text analysis, sentiment analysis, and machine learning, we can distinguish between original and false news. </a:t>
            </a:r>
            <a:endParaRPr sz="1300" dirty="0">
              <a:latin typeface="Times New Roman"/>
              <a:cs typeface="Times New Roman"/>
            </a:endParaRPr>
          </a:p>
        </p:txBody>
      </p:sp>
      <p:pic>
        <p:nvPicPr>
          <p:cNvPr id="4" name="object 4"/>
          <p:cNvPicPr/>
          <p:nvPr/>
        </p:nvPicPr>
        <p:blipFill>
          <a:blip r:embed="rId2" cstate="print"/>
          <a:stretch>
            <a:fillRect/>
          </a:stretch>
        </p:blipFill>
        <p:spPr>
          <a:xfrm>
            <a:off x="8083295" y="0"/>
            <a:ext cx="1060703" cy="83057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6034">
              <a:lnSpc>
                <a:spcPct val="100000"/>
              </a:lnSpc>
              <a:spcBef>
                <a:spcPts val="100"/>
              </a:spcBef>
            </a:pPr>
            <a:r>
              <a:rPr lang="en-US" spc="-5" dirty="0"/>
              <a:t>EXISTING SYSTEM</a:t>
            </a:r>
            <a:endParaRPr spc="-5" dirty="0"/>
          </a:p>
        </p:txBody>
      </p:sp>
      <p:pic>
        <p:nvPicPr>
          <p:cNvPr id="4" name="object 4"/>
          <p:cNvPicPr/>
          <p:nvPr/>
        </p:nvPicPr>
        <p:blipFill>
          <a:blip r:embed="rId2" cstate="print"/>
          <a:stretch>
            <a:fillRect/>
          </a:stretch>
        </p:blipFill>
        <p:spPr>
          <a:xfrm>
            <a:off x="8083295" y="0"/>
            <a:ext cx="1060703" cy="830579"/>
          </a:xfrm>
          <a:prstGeom prst="rect">
            <a:avLst/>
          </a:prstGeom>
        </p:spPr>
      </p:pic>
      <p:sp>
        <p:nvSpPr>
          <p:cNvPr id="6" name="Rectangle 1">
            <a:extLst>
              <a:ext uri="{FF2B5EF4-FFF2-40B4-BE49-F238E27FC236}">
                <a16:creationId xmlns:a16="http://schemas.microsoft.com/office/drawing/2014/main" id="{77E6E9EF-D4FD-40A5-B0F1-AA0A4E88E6A3}"/>
              </a:ext>
            </a:extLst>
          </p:cNvPr>
          <p:cNvSpPr>
            <a:spLocks noChangeArrowheads="1"/>
          </p:cNvSpPr>
          <p:nvPr/>
        </p:nvSpPr>
        <p:spPr bwMode="auto">
          <a:xfrm>
            <a:off x="1143000" y="1322049"/>
            <a:ext cx="6248400" cy="2499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Keyword analysis and </a:t>
            </a:r>
            <a:r>
              <a:rPr kumimoji="0" lang="en-US" altLang="en-US" sz="1800" b="0" i="0" u="none" strike="noStrike" cap="none" normalizeH="0" baseline="0" dirty="0">
                <a:ln>
                  <a:noFill/>
                </a:ln>
                <a:effectLst/>
                <a:latin typeface="Arial" panose="020B0604020202020204" pitchFamily="34" charset="0"/>
              </a:rPr>
              <a:t>statistics.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effectLst/>
                <a:latin typeface="Arial" panose="020B0604020202020204" pitchFamily="34" charset="0"/>
              </a:rPr>
              <a:t> Basic machine lea</a:t>
            </a:r>
            <a:r>
              <a:rPr kumimoji="0" lang="en-US" altLang="en-US" sz="1800" b="0" i="0" u="none" strike="noStrike" cap="none" normalizeH="0" baseline="0" dirty="0">
                <a:ln>
                  <a:noFill/>
                </a:ln>
                <a:solidFill>
                  <a:schemeClr val="tx1"/>
                </a:solidFill>
                <a:effectLst/>
                <a:latin typeface="Arial" panose="020B0604020202020204" pitchFamily="34" charset="0"/>
              </a:rPr>
              <a:t>rning models.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Limited language and domain scope.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Manual fact-checking.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1970" y="207645"/>
            <a:ext cx="3856354" cy="391160"/>
          </a:xfrm>
          <a:prstGeom prst="rect">
            <a:avLst/>
          </a:prstGeom>
        </p:spPr>
        <p:txBody>
          <a:bodyPr vert="horz" wrap="square" lIns="0" tIns="12700" rIns="0" bIns="0" rtlCol="0">
            <a:spAutoFit/>
          </a:bodyPr>
          <a:lstStyle/>
          <a:p>
            <a:pPr marL="12700">
              <a:lnSpc>
                <a:spcPct val="100000"/>
              </a:lnSpc>
              <a:spcBef>
                <a:spcPts val="100"/>
              </a:spcBef>
            </a:pPr>
            <a:r>
              <a:rPr lang="en-US" dirty="0"/>
              <a:t>PROPOSED SYSTEM</a:t>
            </a:r>
            <a:endParaRPr spc="-5" dirty="0"/>
          </a:p>
        </p:txBody>
      </p:sp>
      <p:pic>
        <p:nvPicPr>
          <p:cNvPr id="4" name="object 4"/>
          <p:cNvPicPr/>
          <p:nvPr/>
        </p:nvPicPr>
        <p:blipFill>
          <a:blip r:embed="rId2" cstate="print"/>
          <a:stretch>
            <a:fillRect/>
          </a:stretch>
        </p:blipFill>
        <p:spPr>
          <a:xfrm>
            <a:off x="8083295" y="0"/>
            <a:ext cx="1060703" cy="830579"/>
          </a:xfrm>
          <a:prstGeom prst="rect">
            <a:avLst/>
          </a:prstGeom>
        </p:spPr>
      </p:pic>
      <p:sp>
        <p:nvSpPr>
          <p:cNvPr id="6" name="Rectangle 1">
            <a:extLst>
              <a:ext uri="{FF2B5EF4-FFF2-40B4-BE49-F238E27FC236}">
                <a16:creationId xmlns:a16="http://schemas.microsoft.com/office/drawing/2014/main" id="{2BED831E-CDBC-49CF-9032-F5A858A68562}"/>
              </a:ext>
            </a:extLst>
          </p:cNvPr>
          <p:cNvSpPr>
            <a:spLocks noChangeArrowheads="1"/>
          </p:cNvSpPr>
          <p:nvPr/>
        </p:nvSpPr>
        <p:spPr bwMode="auto">
          <a:xfrm>
            <a:off x="1219200" y="906550"/>
            <a:ext cx="4159152" cy="333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Multi-model data analysis.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Real-time, automated detection.</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NLP for better context understanding.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Advanced AI models used.</a:t>
            </a:r>
          </a:p>
          <a:p>
            <a:pPr marL="0" marR="0" lvl="0" indent="0" algn="l" defTabSz="914400" rtl="0" eaLnBrk="0" fontAlgn="base" latinLnBrk="0" hangingPunct="0">
              <a:lnSpc>
                <a:spcPct val="2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 y="209550"/>
            <a:ext cx="8083295" cy="382156"/>
          </a:xfrm>
          <a:prstGeom prst="rect">
            <a:avLst/>
          </a:prstGeom>
        </p:spPr>
        <p:txBody>
          <a:bodyPr vert="horz" wrap="square" lIns="0" tIns="12700" rIns="0" bIns="0" rtlCol="0">
            <a:spAutoFit/>
          </a:bodyPr>
          <a:lstStyle/>
          <a:p>
            <a:pPr marL="12700">
              <a:lnSpc>
                <a:spcPct val="100000"/>
              </a:lnSpc>
              <a:spcBef>
                <a:spcPts val="100"/>
              </a:spcBef>
            </a:pPr>
            <a:r>
              <a:rPr lang="en-US" spc="-5" dirty="0"/>
              <a:t>       SOFTWARE AND HARDWARE REQUIREMENTS</a:t>
            </a:r>
            <a:endParaRPr spc="-5" dirty="0"/>
          </a:p>
        </p:txBody>
      </p:sp>
      <p:pic>
        <p:nvPicPr>
          <p:cNvPr id="3" name="object 3"/>
          <p:cNvPicPr/>
          <p:nvPr/>
        </p:nvPicPr>
        <p:blipFill>
          <a:blip r:embed="rId2" cstate="print"/>
          <a:stretch>
            <a:fillRect/>
          </a:stretch>
        </p:blipFill>
        <p:spPr>
          <a:xfrm>
            <a:off x="8083295" y="0"/>
            <a:ext cx="1060703" cy="830579"/>
          </a:xfrm>
          <a:prstGeom prst="rect">
            <a:avLst/>
          </a:prstGeom>
        </p:spPr>
      </p:pic>
      <p:sp>
        <p:nvSpPr>
          <p:cNvPr id="4" name="object 4"/>
          <p:cNvSpPr txBox="1"/>
          <p:nvPr/>
        </p:nvSpPr>
        <p:spPr>
          <a:xfrm>
            <a:off x="891336" y="1653920"/>
            <a:ext cx="7379970" cy="2485424"/>
          </a:xfrm>
          <a:prstGeom prst="rect">
            <a:avLst/>
          </a:prstGeom>
        </p:spPr>
        <p:txBody>
          <a:bodyPr vert="horz" wrap="square" lIns="0" tIns="12700" rIns="0" bIns="0" rtlCol="0">
            <a:spAutoFit/>
          </a:bodyPr>
          <a:lstStyle/>
          <a:p>
            <a:pPr algn="l"/>
            <a:r>
              <a:rPr lang="en-IN" dirty="0"/>
              <a:t>Software Requirements:</a:t>
            </a:r>
          </a:p>
          <a:p>
            <a:pPr marL="109728" indent="0">
              <a:buNone/>
            </a:pPr>
            <a:endParaRPr lang="en-IN" dirty="0"/>
          </a:p>
          <a:p>
            <a:pPr marL="109728" algn="just"/>
            <a:r>
              <a:rPr lang="en-IN" dirty="0"/>
              <a:t>Front end		:	HTML</a:t>
            </a:r>
          </a:p>
          <a:p>
            <a:pPr marL="109728" algn="just"/>
            <a:r>
              <a:rPr lang="en-IN" dirty="0"/>
              <a:t>Back end		:	Python.</a:t>
            </a:r>
          </a:p>
          <a:p>
            <a:pPr marL="109728" algn="just"/>
            <a:r>
              <a:rPr lang="en-IN" dirty="0"/>
              <a:t>Operating system		:	Window 7 or any compatible.</a:t>
            </a:r>
          </a:p>
          <a:p>
            <a:pPr marL="109728" algn="just"/>
            <a:r>
              <a:rPr lang="en-IN" dirty="0"/>
              <a:t>IDE			:	Visual studio , Jupyter Notebook.   </a:t>
            </a:r>
          </a:p>
          <a:p>
            <a:pPr marL="109728" algn="just"/>
            <a:r>
              <a:rPr lang="en-IN" dirty="0"/>
              <a:t>Web framework		:	Flask.</a:t>
            </a:r>
          </a:p>
          <a:p>
            <a:pPr marL="109728" algn="just"/>
            <a:r>
              <a:rPr lang="en-IN" dirty="0"/>
              <a:t>Libraries			:	Pandas, Matplotlib, Sklearn , NumPy.   </a:t>
            </a:r>
          </a:p>
          <a:p>
            <a:pPr marL="12700" marR="5080" algn="just">
              <a:lnSpc>
                <a:spcPct val="150000"/>
              </a:lnSpc>
              <a:spcBef>
                <a:spcPts val="100"/>
              </a:spcBef>
            </a:pPr>
            <a:endParaRPr sz="12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09800" y="209550"/>
            <a:ext cx="4800600" cy="382156"/>
          </a:xfrm>
          <a:prstGeom prst="rect">
            <a:avLst/>
          </a:prstGeom>
        </p:spPr>
        <p:txBody>
          <a:bodyPr vert="horz" wrap="square" lIns="0" tIns="12700" rIns="0" bIns="0" rtlCol="0">
            <a:spAutoFit/>
          </a:bodyPr>
          <a:lstStyle/>
          <a:p>
            <a:pPr marL="12700">
              <a:lnSpc>
                <a:spcPct val="100000"/>
              </a:lnSpc>
              <a:spcBef>
                <a:spcPts val="100"/>
              </a:spcBef>
            </a:pPr>
            <a:r>
              <a:rPr lang="en-US" spc="-5" dirty="0"/>
              <a:t>HARDWARE REQUIREMENTS</a:t>
            </a:r>
            <a:endParaRPr spc="-5" dirty="0"/>
          </a:p>
        </p:txBody>
      </p:sp>
      <p:pic>
        <p:nvPicPr>
          <p:cNvPr id="3" name="object 3"/>
          <p:cNvPicPr/>
          <p:nvPr/>
        </p:nvPicPr>
        <p:blipFill>
          <a:blip r:embed="rId2" cstate="print"/>
          <a:stretch>
            <a:fillRect/>
          </a:stretch>
        </p:blipFill>
        <p:spPr>
          <a:xfrm>
            <a:off x="8083295" y="0"/>
            <a:ext cx="1060703" cy="830579"/>
          </a:xfrm>
          <a:prstGeom prst="rect">
            <a:avLst/>
          </a:prstGeom>
        </p:spPr>
      </p:pic>
      <p:sp>
        <p:nvSpPr>
          <p:cNvPr id="4" name="object 4"/>
          <p:cNvSpPr txBox="1"/>
          <p:nvPr/>
        </p:nvSpPr>
        <p:spPr>
          <a:xfrm>
            <a:off x="725220" y="1470151"/>
            <a:ext cx="7695565" cy="1874231"/>
          </a:xfrm>
          <a:prstGeom prst="rect">
            <a:avLst/>
          </a:prstGeom>
        </p:spPr>
        <p:txBody>
          <a:bodyPr vert="horz" wrap="square" lIns="0" tIns="12700" rIns="0" bIns="0" rtlCol="0">
            <a:spAutoFit/>
          </a:bodyPr>
          <a:lstStyle/>
          <a:p>
            <a:pPr algn="just"/>
            <a:r>
              <a:rPr lang="en-IN" dirty="0"/>
              <a:t>Hardware Requirements:</a:t>
            </a:r>
          </a:p>
          <a:p>
            <a:pPr marL="109728" algn="just">
              <a:lnSpc>
                <a:spcPct val="200000"/>
              </a:lnSpc>
            </a:pPr>
            <a:r>
              <a:rPr lang="en-IN" dirty="0"/>
              <a:t>Processing Power :  Intel Core i3 or higher.</a:t>
            </a:r>
          </a:p>
          <a:p>
            <a:pPr marL="109728" algn="just">
              <a:lnSpc>
                <a:spcPct val="200000"/>
              </a:lnSpc>
            </a:pPr>
            <a:r>
              <a:rPr lang="en-IN" dirty="0"/>
              <a:t>Memory(RAM)    :  8 GB to 32GB or more.</a:t>
            </a:r>
          </a:p>
          <a:p>
            <a:pPr marL="109728" algn="just">
              <a:lnSpc>
                <a:spcPct val="200000"/>
              </a:lnSpc>
            </a:pPr>
            <a:r>
              <a:rPr lang="en-IN" dirty="0"/>
              <a:t>Storage                 :  Necessary storage capacity.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7400" y="224211"/>
            <a:ext cx="4672710" cy="382156"/>
          </a:xfrm>
          <a:prstGeom prst="rect">
            <a:avLst/>
          </a:prstGeom>
        </p:spPr>
        <p:txBody>
          <a:bodyPr vert="horz" wrap="square" lIns="0" tIns="12700" rIns="0" bIns="0" rtlCol="0">
            <a:spAutoFit/>
          </a:bodyPr>
          <a:lstStyle/>
          <a:p>
            <a:pPr marL="12700">
              <a:lnSpc>
                <a:spcPct val="100000"/>
              </a:lnSpc>
              <a:spcBef>
                <a:spcPts val="100"/>
              </a:spcBef>
            </a:pPr>
            <a:r>
              <a:rPr lang="en-US" spc="-5" dirty="0"/>
              <a:t>ARCHITECTURE OF PROJECT</a:t>
            </a:r>
            <a:endParaRPr spc="-5" dirty="0"/>
          </a:p>
        </p:txBody>
      </p:sp>
      <p:pic>
        <p:nvPicPr>
          <p:cNvPr id="4" name="object 4"/>
          <p:cNvPicPr/>
          <p:nvPr/>
        </p:nvPicPr>
        <p:blipFill>
          <a:blip r:embed="rId2" cstate="print"/>
          <a:stretch>
            <a:fillRect/>
          </a:stretch>
        </p:blipFill>
        <p:spPr>
          <a:xfrm>
            <a:off x="8083295" y="0"/>
            <a:ext cx="1060703" cy="830579"/>
          </a:xfrm>
          <a:prstGeom prst="rect">
            <a:avLst/>
          </a:prstGeom>
        </p:spPr>
      </p:pic>
      <p:sp>
        <p:nvSpPr>
          <p:cNvPr id="6" name="AutoShape 2" descr="The architecture of the general fake news detection model with deep learning-based models">
            <a:extLst>
              <a:ext uri="{FF2B5EF4-FFF2-40B4-BE49-F238E27FC236}">
                <a16:creationId xmlns:a16="http://schemas.microsoft.com/office/drawing/2014/main" id="{C2FAF1DE-073A-4C49-902A-BF80E284E696}"/>
              </a:ext>
            </a:extLst>
          </p:cNvPr>
          <p:cNvSpPr>
            <a:spLocks noChangeAspect="1" noChangeArrowheads="1"/>
          </p:cNvSpPr>
          <p:nvPr/>
        </p:nvSpPr>
        <p:spPr bwMode="auto">
          <a:xfrm>
            <a:off x="4419600" y="2419350"/>
            <a:ext cx="1905000" cy="1905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1451A959-D3F0-49CF-B4D1-DE4E8CAEE1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895350"/>
            <a:ext cx="5333999" cy="41140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3579" y="254988"/>
            <a:ext cx="6781800" cy="320601"/>
          </a:xfrm>
          <a:prstGeom prst="rect">
            <a:avLst/>
          </a:prstGeom>
        </p:spPr>
        <p:txBody>
          <a:bodyPr vert="horz" wrap="square" lIns="0" tIns="12700" rIns="0" bIns="0" rtlCol="0">
            <a:spAutoFit/>
          </a:bodyPr>
          <a:lstStyle/>
          <a:p>
            <a:pPr marL="12700" algn="ctr">
              <a:lnSpc>
                <a:spcPct val="100000"/>
              </a:lnSpc>
              <a:spcBef>
                <a:spcPts val="100"/>
              </a:spcBef>
            </a:pPr>
            <a:r>
              <a:rPr lang="en-US" sz="2000" dirty="0"/>
              <a:t>FUNCTIONAL REQUIEMENTS</a:t>
            </a:r>
            <a:endParaRPr sz="2000" spc="-5" dirty="0"/>
          </a:p>
        </p:txBody>
      </p:sp>
      <p:pic>
        <p:nvPicPr>
          <p:cNvPr id="4" name="object 4"/>
          <p:cNvPicPr/>
          <p:nvPr/>
        </p:nvPicPr>
        <p:blipFill>
          <a:blip r:embed="rId2" cstate="print"/>
          <a:stretch>
            <a:fillRect/>
          </a:stretch>
        </p:blipFill>
        <p:spPr>
          <a:xfrm>
            <a:off x="8083295" y="0"/>
            <a:ext cx="1060703" cy="830579"/>
          </a:xfrm>
          <a:prstGeom prst="rect">
            <a:avLst/>
          </a:prstGeom>
        </p:spPr>
      </p:pic>
      <p:sp>
        <p:nvSpPr>
          <p:cNvPr id="6" name="TextBox 5">
            <a:extLst>
              <a:ext uri="{FF2B5EF4-FFF2-40B4-BE49-F238E27FC236}">
                <a16:creationId xmlns:a16="http://schemas.microsoft.com/office/drawing/2014/main" id="{8E6C2FF6-FD31-4E4C-B869-294CFC20CC93}"/>
              </a:ext>
            </a:extLst>
          </p:cNvPr>
          <p:cNvSpPr txBox="1"/>
          <p:nvPr/>
        </p:nvSpPr>
        <p:spPr>
          <a:xfrm>
            <a:off x="304799" y="1125365"/>
            <a:ext cx="8458201" cy="3139321"/>
          </a:xfrm>
          <a:prstGeom prst="rect">
            <a:avLst/>
          </a:prstGeom>
          <a:noFill/>
        </p:spPr>
        <p:txBody>
          <a:bodyPr wrap="square" rtlCol="0">
            <a:spAutoFit/>
          </a:bodyPr>
          <a:lstStyle/>
          <a:p>
            <a:pPr algn="l">
              <a:buFont typeface="+mj-lt"/>
              <a:buAutoNum type="arabicPeriod"/>
            </a:pPr>
            <a:endParaRPr lang="en-IN" b="0" i="0" dirty="0">
              <a:solidFill>
                <a:srgbClr val="FFFFFF"/>
              </a:solidFill>
              <a:effectLst/>
              <a:latin typeface="SegoeUIVariable"/>
            </a:endParaRPr>
          </a:p>
          <a:p>
            <a:pPr marL="742950" lvl="1" indent="-285750" algn="l">
              <a:lnSpc>
                <a:spcPct val="200000"/>
              </a:lnSpc>
              <a:buFont typeface="Arial" panose="020B0604020202020204" pitchFamily="34" charset="0"/>
              <a:buChar char="•"/>
            </a:pPr>
            <a:r>
              <a:rPr lang="en-IN" b="1" i="0" dirty="0">
                <a:effectLst/>
                <a:latin typeface="SegoeUIVariable"/>
              </a:rPr>
              <a:t>Content Analysis</a:t>
            </a:r>
            <a:r>
              <a:rPr lang="en-IN" b="0" i="0" dirty="0">
                <a:effectLst/>
                <a:latin typeface="SegoeUIVariable"/>
              </a:rPr>
              <a:t>: Analyse linguistic features.</a:t>
            </a:r>
          </a:p>
          <a:p>
            <a:pPr marL="742950" lvl="1" indent="-285750" algn="l">
              <a:lnSpc>
                <a:spcPct val="200000"/>
              </a:lnSpc>
              <a:buFont typeface="Arial" panose="020B0604020202020204" pitchFamily="34" charset="0"/>
              <a:buChar char="•"/>
            </a:pPr>
            <a:r>
              <a:rPr lang="en-IN" b="1" i="0" dirty="0">
                <a:effectLst/>
                <a:latin typeface="SegoeUIVariable"/>
              </a:rPr>
              <a:t>Early Detection</a:t>
            </a:r>
            <a:r>
              <a:rPr lang="en-IN" b="0" i="0" dirty="0">
                <a:effectLst/>
                <a:latin typeface="SegoeUIVariable"/>
              </a:rPr>
              <a:t>: Catch misinformation promptly.</a:t>
            </a:r>
          </a:p>
          <a:p>
            <a:pPr marL="742950" lvl="1" indent="-285750" algn="l">
              <a:lnSpc>
                <a:spcPct val="200000"/>
              </a:lnSpc>
              <a:buFont typeface="Arial" panose="020B0604020202020204" pitchFamily="34" charset="0"/>
              <a:buChar char="•"/>
            </a:pPr>
            <a:r>
              <a:rPr lang="en-IN" b="1" i="0" dirty="0">
                <a:effectLst/>
                <a:latin typeface="SegoeUIVariable"/>
              </a:rPr>
              <a:t>Scalability</a:t>
            </a:r>
            <a:r>
              <a:rPr lang="en-IN" b="0" i="0" dirty="0">
                <a:effectLst/>
                <a:latin typeface="SegoeUIVariable"/>
              </a:rPr>
              <a:t>: Handle large volumes efficiently.</a:t>
            </a:r>
          </a:p>
          <a:p>
            <a:pPr marL="742950" lvl="1" indent="-285750" algn="l">
              <a:lnSpc>
                <a:spcPct val="200000"/>
              </a:lnSpc>
              <a:buFont typeface="Arial" panose="020B0604020202020204" pitchFamily="34" charset="0"/>
              <a:buChar char="•"/>
            </a:pPr>
            <a:r>
              <a:rPr lang="en-IN" b="1" i="0" dirty="0">
                <a:effectLst/>
                <a:latin typeface="SegoeUIVariable"/>
              </a:rPr>
              <a:t>Feedback Loop</a:t>
            </a:r>
            <a:r>
              <a:rPr lang="en-IN" b="0" i="0" dirty="0">
                <a:effectLst/>
                <a:latin typeface="SegoeUIVariable"/>
              </a:rPr>
              <a:t>: Continuously learn and update.</a:t>
            </a:r>
          </a:p>
          <a:p>
            <a:br>
              <a:rPr lang="en-IN" dirty="0"/>
            </a:b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75ED8-668E-4408-86B2-94DBD543EDFA}"/>
              </a:ext>
            </a:extLst>
          </p:cNvPr>
          <p:cNvSpPr>
            <a:spLocks noGrp="1"/>
          </p:cNvSpPr>
          <p:nvPr>
            <p:ph type="title"/>
          </p:nvPr>
        </p:nvSpPr>
        <p:spPr>
          <a:xfrm>
            <a:off x="276936" y="209169"/>
            <a:ext cx="8590127" cy="369332"/>
          </a:xfrm>
        </p:spPr>
        <p:txBody>
          <a:bodyPr/>
          <a:lstStyle/>
          <a:p>
            <a:pPr algn="ctr"/>
            <a:r>
              <a:rPr lang="en-US" sz="2400" dirty="0"/>
              <a:t>NON FUNCTIONAL REQUIEMENTS</a:t>
            </a:r>
            <a:endParaRPr lang="en-IN" dirty="0"/>
          </a:p>
        </p:txBody>
      </p:sp>
      <p:sp>
        <p:nvSpPr>
          <p:cNvPr id="3" name="Text Placeholder 2">
            <a:extLst>
              <a:ext uri="{FF2B5EF4-FFF2-40B4-BE49-F238E27FC236}">
                <a16:creationId xmlns:a16="http://schemas.microsoft.com/office/drawing/2014/main" id="{383190D5-78EC-42CA-9259-505493F955E3}"/>
              </a:ext>
            </a:extLst>
          </p:cNvPr>
          <p:cNvSpPr>
            <a:spLocks noGrp="1"/>
          </p:cNvSpPr>
          <p:nvPr>
            <p:ph type="body" idx="1"/>
          </p:nvPr>
        </p:nvSpPr>
        <p:spPr>
          <a:xfrm>
            <a:off x="914400" y="1428750"/>
            <a:ext cx="6477000" cy="1846659"/>
          </a:xfrm>
        </p:spPr>
        <p:txBody>
          <a:bodyPr/>
          <a:lstStyle/>
          <a:p>
            <a:pPr algn="l">
              <a:lnSpc>
                <a:spcPct val="200000"/>
              </a:lnSpc>
              <a:buFont typeface="Arial" panose="020B0604020202020204" pitchFamily="34" charset="0"/>
              <a:buChar char="•"/>
            </a:pPr>
            <a:r>
              <a:rPr lang="en-IN" sz="1800" b="1" i="0" dirty="0">
                <a:solidFill>
                  <a:schemeClr val="tx1"/>
                </a:solidFill>
                <a:effectLst/>
                <a:latin typeface="SegoeUIVariable"/>
              </a:rPr>
              <a:t>Accuracy</a:t>
            </a:r>
            <a:r>
              <a:rPr lang="en-IN" sz="1800" b="0" i="0" dirty="0">
                <a:solidFill>
                  <a:schemeClr val="tx1"/>
                </a:solidFill>
                <a:effectLst/>
                <a:latin typeface="SegoeUIVariable"/>
              </a:rPr>
              <a:t>: Minimize false results.</a:t>
            </a:r>
          </a:p>
          <a:p>
            <a:pPr algn="l">
              <a:lnSpc>
                <a:spcPct val="200000"/>
              </a:lnSpc>
              <a:buFont typeface="Arial" panose="020B0604020202020204" pitchFamily="34" charset="0"/>
              <a:buChar char="•"/>
            </a:pPr>
            <a:r>
              <a:rPr lang="en-IN" sz="1800" b="1" i="0" dirty="0">
                <a:solidFill>
                  <a:schemeClr val="tx1"/>
                </a:solidFill>
                <a:effectLst/>
                <a:latin typeface="SegoeUIVariable"/>
              </a:rPr>
              <a:t>Privacy	</a:t>
            </a:r>
            <a:r>
              <a:rPr lang="en-IN" sz="1800" b="0" i="0" dirty="0">
                <a:solidFill>
                  <a:schemeClr val="tx1"/>
                </a:solidFill>
                <a:effectLst/>
                <a:latin typeface="SegoeUIVariable"/>
              </a:rPr>
              <a:t>: Protect user data.</a:t>
            </a:r>
          </a:p>
          <a:p>
            <a:pPr algn="l">
              <a:lnSpc>
                <a:spcPct val="200000"/>
              </a:lnSpc>
              <a:buFont typeface="Arial" panose="020B0604020202020204" pitchFamily="34" charset="0"/>
              <a:buChar char="•"/>
            </a:pPr>
            <a:r>
              <a:rPr lang="en-IN" sz="1800" b="1" i="0" dirty="0">
                <a:solidFill>
                  <a:schemeClr val="tx1"/>
                </a:solidFill>
                <a:effectLst/>
                <a:latin typeface="SegoeUIVariable"/>
              </a:rPr>
              <a:t>Interpretability</a:t>
            </a:r>
            <a:r>
              <a:rPr lang="en-IN" sz="1800" b="0" i="0" dirty="0">
                <a:solidFill>
                  <a:schemeClr val="tx1"/>
                </a:solidFill>
                <a:effectLst/>
                <a:latin typeface="SegoeUIVariable"/>
              </a:rPr>
              <a:t>: Explain model decisions.</a:t>
            </a:r>
          </a:p>
          <a:p>
            <a:pPr algn="l"/>
            <a:endParaRPr lang="en-IN" dirty="0">
              <a:solidFill>
                <a:schemeClr val="tx1"/>
              </a:solidFill>
            </a:endParaRPr>
          </a:p>
        </p:txBody>
      </p:sp>
      <p:pic>
        <p:nvPicPr>
          <p:cNvPr id="4" name="object 2">
            <a:extLst>
              <a:ext uri="{FF2B5EF4-FFF2-40B4-BE49-F238E27FC236}">
                <a16:creationId xmlns:a16="http://schemas.microsoft.com/office/drawing/2014/main" id="{1CBFDA40-6B56-4B56-AC26-ADB0A7B4E7C6}"/>
              </a:ext>
            </a:extLst>
          </p:cNvPr>
          <p:cNvPicPr/>
          <p:nvPr/>
        </p:nvPicPr>
        <p:blipFill>
          <a:blip r:embed="rId2" cstate="print"/>
          <a:stretch>
            <a:fillRect/>
          </a:stretch>
        </p:blipFill>
        <p:spPr>
          <a:xfrm>
            <a:off x="8083295" y="0"/>
            <a:ext cx="1060703" cy="830579"/>
          </a:xfrm>
          <a:prstGeom prst="rect">
            <a:avLst/>
          </a:prstGeom>
        </p:spPr>
      </p:pic>
    </p:spTree>
    <p:extLst>
      <p:ext uri="{BB962C8B-B14F-4D97-AF65-F5344CB8AC3E}">
        <p14:creationId xmlns:p14="http://schemas.microsoft.com/office/powerpoint/2010/main" val="2928051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94734" y="207645"/>
            <a:ext cx="3229865" cy="382156"/>
          </a:xfrm>
          <a:prstGeom prst="rect">
            <a:avLst/>
          </a:prstGeom>
        </p:spPr>
        <p:txBody>
          <a:bodyPr vert="horz" wrap="square" lIns="0" tIns="12700" rIns="0" bIns="0" rtlCol="0">
            <a:spAutoFit/>
          </a:bodyPr>
          <a:lstStyle/>
          <a:p>
            <a:pPr marL="12700">
              <a:lnSpc>
                <a:spcPct val="100000"/>
              </a:lnSpc>
              <a:spcBef>
                <a:spcPts val="100"/>
              </a:spcBef>
            </a:pPr>
            <a:r>
              <a:rPr lang="en-US" dirty="0"/>
              <a:t>USE CASE DIAGRAM</a:t>
            </a:r>
            <a:endParaRPr spc="-5" dirty="0"/>
          </a:p>
        </p:txBody>
      </p:sp>
      <p:pic>
        <p:nvPicPr>
          <p:cNvPr id="3" name="object 3"/>
          <p:cNvPicPr/>
          <p:nvPr/>
        </p:nvPicPr>
        <p:blipFill>
          <a:blip r:embed="rId2" cstate="print"/>
          <a:stretch>
            <a:fillRect/>
          </a:stretch>
        </p:blipFill>
        <p:spPr>
          <a:xfrm>
            <a:off x="8083295" y="0"/>
            <a:ext cx="1060703" cy="830579"/>
          </a:xfrm>
          <a:prstGeom prst="rect">
            <a:avLst/>
          </a:prstGeom>
        </p:spPr>
      </p:pic>
      <p:pic>
        <p:nvPicPr>
          <p:cNvPr id="7" name="Picture 6">
            <a:extLst>
              <a:ext uri="{FF2B5EF4-FFF2-40B4-BE49-F238E27FC236}">
                <a16:creationId xmlns:a16="http://schemas.microsoft.com/office/drawing/2014/main" id="{9864C59D-C58B-4962-AD5B-0E99333006C3}"/>
              </a:ext>
            </a:extLst>
          </p:cNvPr>
          <p:cNvPicPr>
            <a:picLocks noChangeAspect="1"/>
          </p:cNvPicPr>
          <p:nvPr/>
        </p:nvPicPr>
        <p:blipFill>
          <a:blip r:embed="rId3"/>
          <a:stretch>
            <a:fillRect/>
          </a:stretch>
        </p:blipFill>
        <p:spPr>
          <a:xfrm>
            <a:off x="2209800" y="1200150"/>
            <a:ext cx="4419600" cy="3429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80917" y="197865"/>
            <a:ext cx="2393950" cy="391160"/>
          </a:xfrm>
          <a:prstGeom prst="rect">
            <a:avLst/>
          </a:prstGeom>
        </p:spPr>
        <p:txBody>
          <a:bodyPr vert="horz" wrap="square" lIns="0" tIns="12700" rIns="0" bIns="0" rtlCol="0">
            <a:spAutoFit/>
          </a:bodyPr>
          <a:lstStyle/>
          <a:p>
            <a:pPr marL="12700">
              <a:lnSpc>
                <a:spcPct val="100000"/>
              </a:lnSpc>
              <a:spcBef>
                <a:spcPts val="100"/>
              </a:spcBef>
            </a:pPr>
            <a:r>
              <a:rPr lang="en-US" spc="-5" dirty="0"/>
              <a:t>ALGORITHMS</a:t>
            </a:r>
            <a:endParaRPr spc="-5" dirty="0"/>
          </a:p>
        </p:txBody>
      </p:sp>
      <p:pic>
        <p:nvPicPr>
          <p:cNvPr id="4" name="object 4"/>
          <p:cNvPicPr/>
          <p:nvPr/>
        </p:nvPicPr>
        <p:blipFill>
          <a:blip r:embed="rId2" cstate="print"/>
          <a:stretch>
            <a:fillRect/>
          </a:stretch>
        </p:blipFill>
        <p:spPr>
          <a:xfrm>
            <a:off x="8083295" y="0"/>
            <a:ext cx="1060703" cy="830579"/>
          </a:xfrm>
          <a:prstGeom prst="rect">
            <a:avLst/>
          </a:prstGeom>
        </p:spPr>
      </p:pic>
      <p:sp>
        <p:nvSpPr>
          <p:cNvPr id="6" name="Rectangle 1">
            <a:extLst>
              <a:ext uri="{FF2B5EF4-FFF2-40B4-BE49-F238E27FC236}">
                <a16:creationId xmlns:a16="http://schemas.microsoft.com/office/drawing/2014/main" id="{5AEDEE3B-7513-4785-98B6-0F871BF305C2}"/>
              </a:ext>
            </a:extLst>
          </p:cNvPr>
          <p:cNvSpPr>
            <a:spLocks noChangeArrowheads="1"/>
          </p:cNvSpPr>
          <p:nvPr/>
        </p:nvSpPr>
        <p:spPr bwMode="auto">
          <a:xfrm>
            <a:off x="304800" y="1608952"/>
            <a:ext cx="85344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PASSIVE AGGRESSIVE ALGORITHM:</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Passive-Aggressive Classification algorithm is a machine learning technique commonly used in fake news detection. It's an online learning algorithm, meaning it updates its model as it processes each new data point. When classifying news as real or fake, the algorithm is "passive" if the classification is correct, making minimal changes to the model, and "aggressive" if the classification is incorrect, updating the model significantly to correct the error. This approach allows it to quickly adapt to new patterns in data, making it effective for tasks like real-time fake news detection.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C5799-85EC-4889-A825-30E57B790739}"/>
              </a:ext>
            </a:extLst>
          </p:cNvPr>
          <p:cNvSpPr>
            <a:spLocks noGrp="1"/>
          </p:cNvSpPr>
          <p:nvPr>
            <p:ph type="title"/>
          </p:nvPr>
        </p:nvSpPr>
        <p:spPr>
          <a:xfrm>
            <a:off x="2817875" y="209169"/>
            <a:ext cx="3508248" cy="369332"/>
          </a:xfrm>
        </p:spPr>
        <p:txBody>
          <a:bodyPr/>
          <a:lstStyle/>
          <a:p>
            <a:pPr algn="ctr"/>
            <a:r>
              <a:rPr lang="en-US" dirty="0"/>
              <a:t>SCREENSHOTS</a:t>
            </a:r>
            <a:endParaRPr lang="en-IN" dirty="0"/>
          </a:p>
        </p:txBody>
      </p:sp>
      <p:sp>
        <p:nvSpPr>
          <p:cNvPr id="3" name="Text Placeholder 2">
            <a:extLst>
              <a:ext uri="{FF2B5EF4-FFF2-40B4-BE49-F238E27FC236}">
                <a16:creationId xmlns:a16="http://schemas.microsoft.com/office/drawing/2014/main" id="{9E8B601F-E117-4E4B-827F-F7AAC1D938A8}"/>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3D826581-8DAC-4872-8745-80266B952D45}"/>
              </a:ext>
            </a:extLst>
          </p:cNvPr>
          <p:cNvPicPr>
            <a:picLocks noChangeAspect="1"/>
          </p:cNvPicPr>
          <p:nvPr/>
        </p:nvPicPr>
        <p:blipFill>
          <a:blip r:embed="rId2"/>
          <a:stretch>
            <a:fillRect/>
          </a:stretch>
        </p:blipFill>
        <p:spPr>
          <a:xfrm>
            <a:off x="0" y="800355"/>
            <a:ext cx="9144000" cy="4343145"/>
          </a:xfrm>
          <a:prstGeom prst="rect">
            <a:avLst/>
          </a:prstGeom>
        </p:spPr>
      </p:pic>
      <p:pic>
        <p:nvPicPr>
          <p:cNvPr id="6" name="object 2">
            <a:extLst>
              <a:ext uri="{FF2B5EF4-FFF2-40B4-BE49-F238E27FC236}">
                <a16:creationId xmlns:a16="http://schemas.microsoft.com/office/drawing/2014/main" id="{BA6AD8D3-87F6-4066-85B5-15A065950B76}"/>
              </a:ext>
            </a:extLst>
          </p:cNvPr>
          <p:cNvPicPr/>
          <p:nvPr/>
        </p:nvPicPr>
        <p:blipFill>
          <a:blip r:embed="rId3" cstate="print"/>
          <a:stretch>
            <a:fillRect/>
          </a:stretch>
        </p:blipFill>
        <p:spPr>
          <a:xfrm>
            <a:off x="8083295" y="0"/>
            <a:ext cx="1060703" cy="830579"/>
          </a:xfrm>
          <a:prstGeom prst="rect">
            <a:avLst/>
          </a:prstGeom>
        </p:spPr>
      </p:pic>
    </p:spTree>
    <p:extLst>
      <p:ext uri="{BB962C8B-B14F-4D97-AF65-F5344CB8AC3E}">
        <p14:creationId xmlns:p14="http://schemas.microsoft.com/office/powerpoint/2010/main" val="4133140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D668F-447C-4794-AA15-294B036DC304}"/>
              </a:ext>
            </a:extLst>
          </p:cNvPr>
          <p:cNvSpPr>
            <a:spLocks noGrp="1"/>
          </p:cNvSpPr>
          <p:nvPr>
            <p:ph type="title"/>
          </p:nvPr>
        </p:nvSpPr>
        <p:spPr>
          <a:xfrm>
            <a:off x="0" y="209550"/>
            <a:ext cx="9144000" cy="369332"/>
          </a:xfrm>
        </p:spPr>
        <p:txBody>
          <a:bodyPr/>
          <a:lstStyle/>
          <a:p>
            <a:pPr algn="ctr"/>
            <a:r>
              <a:rPr lang="en-US" dirty="0"/>
              <a:t>REAL CLASSIFICATION OF RESULTS</a:t>
            </a:r>
            <a:endParaRPr lang="en-IN" dirty="0"/>
          </a:p>
        </p:txBody>
      </p:sp>
      <p:pic>
        <p:nvPicPr>
          <p:cNvPr id="5" name="Picture 4">
            <a:extLst>
              <a:ext uri="{FF2B5EF4-FFF2-40B4-BE49-F238E27FC236}">
                <a16:creationId xmlns:a16="http://schemas.microsoft.com/office/drawing/2014/main" id="{C4D41FFE-360B-4575-864F-0CC67B299970}"/>
              </a:ext>
            </a:extLst>
          </p:cNvPr>
          <p:cNvPicPr>
            <a:picLocks noChangeAspect="1"/>
          </p:cNvPicPr>
          <p:nvPr/>
        </p:nvPicPr>
        <p:blipFill>
          <a:blip r:embed="rId2"/>
          <a:stretch>
            <a:fillRect/>
          </a:stretch>
        </p:blipFill>
        <p:spPr>
          <a:xfrm>
            <a:off x="0" y="742950"/>
            <a:ext cx="9144000" cy="4191000"/>
          </a:xfrm>
          <a:prstGeom prst="rect">
            <a:avLst/>
          </a:prstGeom>
        </p:spPr>
      </p:pic>
      <p:pic>
        <p:nvPicPr>
          <p:cNvPr id="4" name="object 2">
            <a:extLst>
              <a:ext uri="{FF2B5EF4-FFF2-40B4-BE49-F238E27FC236}">
                <a16:creationId xmlns:a16="http://schemas.microsoft.com/office/drawing/2014/main" id="{6565AD0E-11A6-423B-AA0B-4DDA902E3539}"/>
              </a:ext>
            </a:extLst>
          </p:cNvPr>
          <p:cNvPicPr/>
          <p:nvPr/>
        </p:nvPicPr>
        <p:blipFill>
          <a:blip r:embed="rId3" cstate="print"/>
          <a:stretch>
            <a:fillRect/>
          </a:stretch>
        </p:blipFill>
        <p:spPr>
          <a:xfrm>
            <a:off x="8083295" y="0"/>
            <a:ext cx="1060703" cy="830579"/>
          </a:xfrm>
          <a:prstGeom prst="rect">
            <a:avLst/>
          </a:prstGeom>
        </p:spPr>
      </p:pic>
    </p:spTree>
    <p:extLst>
      <p:ext uri="{BB962C8B-B14F-4D97-AF65-F5344CB8AC3E}">
        <p14:creationId xmlns:p14="http://schemas.microsoft.com/office/powerpoint/2010/main" val="2654661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1F64BFB-4932-49AE-BBD5-37ECD2A9D1B0}"/>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02396815-51CE-47F8-B1B9-7DC5B69A90A8}"/>
              </a:ext>
            </a:extLst>
          </p:cNvPr>
          <p:cNvPicPr>
            <a:picLocks noChangeAspect="1"/>
          </p:cNvPicPr>
          <p:nvPr/>
        </p:nvPicPr>
        <p:blipFill>
          <a:blip r:embed="rId2"/>
          <a:stretch>
            <a:fillRect/>
          </a:stretch>
        </p:blipFill>
        <p:spPr>
          <a:xfrm>
            <a:off x="0" y="800355"/>
            <a:ext cx="9144000" cy="4209795"/>
          </a:xfrm>
          <a:prstGeom prst="rect">
            <a:avLst/>
          </a:prstGeom>
        </p:spPr>
      </p:pic>
      <p:sp>
        <p:nvSpPr>
          <p:cNvPr id="6" name="TextBox 5">
            <a:extLst>
              <a:ext uri="{FF2B5EF4-FFF2-40B4-BE49-F238E27FC236}">
                <a16:creationId xmlns:a16="http://schemas.microsoft.com/office/drawing/2014/main" id="{51E0A4C9-3682-486E-8D2C-4DD5A90562D1}"/>
              </a:ext>
            </a:extLst>
          </p:cNvPr>
          <p:cNvSpPr txBox="1"/>
          <p:nvPr/>
        </p:nvSpPr>
        <p:spPr>
          <a:xfrm>
            <a:off x="2286000" y="209550"/>
            <a:ext cx="4800600" cy="461665"/>
          </a:xfrm>
          <a:prstGeom prst="rect">
            <a:avLst/>
          </a:prstGeom>
          <a:noFill/>
        </p:spPr>
        <p:txBody>
          <a:bodyPr wrap="square" rtlCol="0">
            <a:spAutoFit/>
          </a:bodyPr>
          <a:lstStyle/>
          <a:p>
            <a:pPr algn="ctr"/>
            <a:r>
              <a:rPr lang="en-US" sz="2400" dirty="0">
                <a:solidFill>
                  <a:schemeClr val="bg1"/>
                </a:solidFill>
                <a:latin typeface="Times New Roman" panose="02020603050405020304" pitchFamily="18" charset="0"/>
                <a:cs typeface="Times New Roman" panose="02020603050405020304" pitchFamily="18" charset="0"/>
              </a:rPr>
              <a:t>FAKE CLASSIFICATION RESULT</a:t>
            </a:r>
            <a:endParaRPr lang="en-IN" sz="2400" dirty="0">
              <a:solidFill>
                <a:schemeClr val="bg1"/>
              </a:solidFill>
              <a:latin typeface="Times New Roman" panose="02020603050405020304" pitchFamily="18" charset="0"/>
              <a:cs typeface="Times New Roman" panose="02020603050405020304" pitchFamily="18" charset="0"/>
            </a:endParaRPr>
          </a:p>
        </p:txBody>
      </p:sp>
      <p:pic>
        <p:nvPicPr>
          <p:cNvPr id="7" name="object 2">
            <a:extLst>
              <a:ext uri="{FF2B5EF4-FFF2-40B4-BE49-F238E27FC236}">
                <a16:creationId xmlns:a16="http://schemas.microsoft.com/office/drawing/2014/main" id="{2556BC47-1943-471D-800A-4198F3329B42}"/>
              </a:ext>
            </a:extLst>
          </p:cNvPr>
          <p:cNvPicPr/>
          <p:nvPr/>
        </p:nvPicPr>
        <p:blipFill>
          <a:blip r:embed="rId3" cstate="print"/>
          <a:stretch>
            <a:fillRect/>
          </a:stretch>
        </p:blipFill>
        <p:spPr>
          <a:xfrm>
            <a:off x="8083295" y="0"/>
            <a:ext cx="1060703" cy="830579"/>
          </a:xfrm>
          <a:prstGeom prst="rect">
            <a:avLst/>
          </a:prstGeom>
        </p:spPr>
      </p:pic>
    </p:spTree>
    <p:extLst>
      <p:ext uri="{BB962C8B-B14F-4D97-AF65-F5344CB8AC3E}">
        <p14:creationId xmlns:p14="http://schemas.microsoft.com/office/powerpoint/2010/main" val="127762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3FC13-8818-45A2-A015-D8D8641D6F61}"/>
              </a:ext>
            </a:extLst>
          </p:cNvPr>
          <p:cNvSpPr>
            <a:spLocks noGrp="1"/>
          </p:cNvSpPr>
          <p:nvPr>
            <p:ph type="title"/>
          </p:nvPr>
        </p:nvSpPr>
        <p:spPr>
          <a:xfrm>
            <a:off x="2817875" y="209169"/>
            <a:ext cx="3508248" cy="369332"/>
          </a:xfrm>
        </p:spPr>
        <p:txBody>
          <a:bodyPr/>
          <a:lstStyle/>
          <a:p>
            <a:pPr algn="ctr"/>
            <a:r>
              <a:rPr lang="en-US" dirty="0"/>
              <a:t>TEST CASES</a:t>
            </a:r>
            <a:endParaRPr lang="en-IN" dirty="0"/>
          </a:p>
        </p:txBody>
      </p:sp>
      <p:pic>
        <p:nvPicPr>
          <p:cNvPr id="5" name="Picture 4">
            <a:extLst>
              <a:ext uri="{FF2B5EF4-FFF2-40B4-BE49-F238E27FC236}">
                <a16:creationId xmlns:a16="http://schemas.microsoft.com/office/drawing/2014/main" id="{752C9D06-61E2-4BAE-8F8F-2E24FCC0A75F}"/>
              </a:ext>
            </a:extLst>
          </p:cNvPr>
          <p:cNvPicPr>
            <a:picLocks noChangeAspect="1"/>
          </p:cNvPicPr>
          <p:nvPr/>
        </p:nvPicPr>
        <p:blipFill>
          <a:blip r:embed="rId2"/>
          <a:stretch>
            <a:fillRect/>
          </a:stretch>
        </p:blipFill>
        <p:spPr>
          <a:xfrm>
            <a:off x="2304733" y="895350"/>
            <a:ext cx="4534533" cy="4248150"/>
          </a:xfrm>
          <a:prstGeom prst="rect">
            <a:avLst/>
          </a:prstGeom>
        </p:spPr>
      </p:pic>
      <p:pic>
        <p:nvPicPr>
          <p:cNvPr id="4" name="object 2">
            <a:extLst>
              <a:ext uri="{FF2B5EF4-FFF2-40B4-BE49-F238E27FC236}">
                <a16:creationId xmlns:a16="http://schemas.microsoft.com/office/drawing/2014/main" id="{87A9D34C-B30A-44E6-9612-7643E2603A00}"/>
              </a:ext>
            </a:extLst>
          </p:cNvPr>
          <p:cNvPicPr/>
          <p:nvPr/>
        </p:nvPicPr>
        <p:blipFill>
          <a:blip r:embed="rId3" cstate="print"/>
          <a:stretch>
            <a:fillRect/>
          </a:stretch>
        </p:blipFill>
        <p:spPr>
          <a:xfrm>
            <a:off x="8083295" y="0"/>
            <a:ext cx="1060703" cy="830579"/>
          </a:xfrm>
          <a:prstGeom prst="rect">
            <a:avLst/>
          </a:prstGeom>
        </p:spPr>
      </p:pic>
    </p:spTree>
    <p:extLst>
      <p:ext uri="{BB962C8B-B14F-4D97-AF65-F5344CB8AC3E}">
        <p14:creationId xmlns:p14="http://schemas.microsoft.com/office/powerpoint/2010/main" val="2864305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C69BB-7D71-4F4C-A035-2C9B62FC0B1B}"/>
              </a:ext>
            </a:extLst>
          </p:cNvPr>
          <p:cNvSpPr>
            <a:spLocks noGrp="1"/>
          </p:cNvSpPr>
          <p:nvPr>
            <p:ph type="title"/>
          </p:nvPr>
        </p:nvSpPr>
        <p:spPr>
          <a:xfrm>
            <a:off x="2817874" y="209169"/>
            <a:ext cx="3811525" cy="738664"/>
          </a:xfrm>
        </p:spPr>
        <p:txBody>
          <a:bodyPr/>
          <a:lstStyle/>
          <a:p>
            <a:r>
              <a:rPr lang="en-US" dirty="0"/>
              <a:t>FUTURE ENHANCMENT</a:t>
            </a:r>
            <a:endParaRPr lang="en-IN" dirty="0"/>
          </a:p>
        </p:txBody>
      </p:sp>
      <p:sp>
        <p:nvSpPr>
          <p:cNvPr id="3" name="Text Placeholder 2">
            <a:extLst>
              <a:ext uri="{FF2B5EF4-FFF2-40B4-BE49-F238E27FC236}">
                <a16:creationId xmlns:a16="http://schemas.microsoft.com/office/drawing/2014/main" id="{007B0713-C010-4353-80E1-87A9A3A9D142}"/>
              </a:ext>
            </a:extLst>
          </p:cNvPr>
          <p:cNvSpPr>
            <a:spLocks noGrp="1"/>
          </p:cNvSpPr>
          <p:nvPr>
            <p:ph type="body" idx="1"/>
          </p:nvPr>
        </p:nvSpPr>
        <p:spPr>
          <a:xfrm>
            <a:off x="1852968" y="1701319"/>
            <a:ext cx="5438064" cy="1740861"/>
          </a:xfrm>
        </p:spPr>
        <p:txBody>
          <a:bodyPr/>
          <a:lstStyle/>
          <a:p>
            <a:pPr marL="342900" indent="-342900" algn="just">
              <a:lnSpc>
                <a:spcPct val="250000"/>
              </a:lnSpc>
              <a:buFont typeface="Wingdings" panose="05000000000000000000" pitchFamily="2" charset="2"/>
              <a:buChar char="Ø"/>
            </a:pPr>
            <a:r>
              <a:rPr lang="en-IN" sz="1600" dirty="0"/>
              <a:t>Improving Accuracy and Effectiveness.</a:t>
            </a:r>
          </a:p>
          <a:p>
            <a:pPr marL="342900" indent="-342900" algn="just">
              <a:lnSpc>
                <a:spcPct val="250000"/>
              </a:lnSpc>
              <a:buFont typeface="Wingdings" panose="05000000000000000000" pitchFamily="2" charset="2"/>
              <a:buChar char="Ø"/>
            </a:pPr>
            <a:r>
              <a:rPr lang="en-IN" sz="1600" dirty="0"/>
              <a:t>Impact on Media Literacy and Democracy.</a:t>
            </a:r>
          </a:p>
          <a:p>
            <a:pPr marL="342900" indent="-342900" algn="just">
              <a:lnSpc>
                <a:spcPct val="250000"/>
              </a:lnSpc>
              <a:buFont typeface="Wingdings" panose="05000000000000000000" pitchFamily="2" charset="2"/>
              <a:buChar char="Ø"/>
            </a:pPr>
            <a:r>
              <a:rPr lang="en-IN" sz="1600" dirty="0"/>
              <a:t>Improving the models.</a:t>
            </a:r>
            <a:endParaRPr lang="en-IN" dirty="0"/>
          </a:p>
        </p:txBody>
      </p:sp>
      <p:pic>
        <p:nvPicPr>
          <p:cNvPr id="4" name="object 2">
            <a:extLst>
              <a:ext uri="{FF2B5EF4-FFF2-40B4-BE49-F238E27FC236}">
                <a16:creationId xmlns:a16="http://schemas.microsoft.com/office/drawing/2014/main" id="{53DB093D-C6D3-4B29-AB75-8D69BFF30649}"/>
              </a:ext>
            </a:extLst>
          </p:cNvPr>
          <p:cNvPicPr/>
          <p:nvPr/>
        </p:nvPicPr>
        <p:blipFill>
          <a:blip r:embed="rId2" cstate="print"/>
          <a:stretch>
            <a:fillRect/>
          </a:stretch>
        </p:blipFill>
        <p:spPr>
          <a:xfrm>
            <a:off x="8083295" y="0"/>
            <a:ext cx="1060703" cy="830579"/>
          </a:xfrm>
          <a:prstGeom prst="rect">
            <a:avLst/>
          </a:prstGeom>
        </p:spPr>
      </p:pic>
    </p:spTree>
    <p:extLst>
      <p:ext uri="{BB962C8B-B14F-4D97-AF65-F5344CB8AC3E}">
        <p14:creationId xmlns:p14="http://schemas.microsoft.com/office/powerpoint/2010/main" val="2790517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CFB70-CEA7-42F1-B94C-DD00DC11C408}"/>
              </a:ext>
            </a:extLst>
          </p:cNvPr>
          <p:cNvSpPr>
            <a:spLocks noGrp="1"/>
          </p:cNvSpPr>
          <p:nvPr>
            <p:ph type="title"/>
          </p:nvPr>
        </p:nvSpPr>
        <p:spPr>
          <a:xfrm>
            <a:off x="2817875" y="209169"/>
            <a:ext cx="3508248" cy="369332"/>
          </a:xfrm>
        </p:spPr>
        <p:txBody>
          <a:bodyPr/>
          <a:lstStyle/>
          <a:p>
            <a:pPr algn="ctr"/>
            <a:r>
              <a:rPr lang="en-US" dirty="0"/>
              <a:t>CONCLUSION</a:t>
            </a:r>
            <a:endParaRPr lang="en-IN" dirty="0"/>
          </a:p>
        </p:txBody>
      </p:sp>
      <p:sp>
        <p:nvSpPr>
          <p:cNvPr id="3" name="Text Placeholder 2">
            <a:extLst>
              <a:ext uri="{FF2B5EF4-FFF2-40B4-BE49-F238E27FC236}">
                <a16:creationId xmlns:a16="http://schemas.microsoft.com/office/drawing/2014/main" id="{9D10D004-E694-45F0-AE9E-E2A1531C52C7}"/>
              </a:ext>
            </a:extLst>
          </p:cNvPr>
          <p:cNvSpPr>
            <a:spLocks noGrp="1"/>
          </p:cNvSpPr>
          <p:nvPr>
            <p:ph type="body" idx="1"/>
          </p:nvPr>
        </p:nvSpPr>
        <p:spPr>
          <a:xfrm>
            <a:off x="685800" y="1962150"/>
            <a:ext cx="7543801" cy="2031325"/>
          </a:xfrm>
        </p:spPr>
        <p:txBody>
          <a:bodyPr/>
          <a:lstStyle/>
          <a:p>
            <a:pPr marL="342900" indent="-342900" algn="just">
              <a:lnSpc>
                <a:spcPct val="250000"/>
              </a:lnSpc>
              <a:buFont typeface="Wingdings" panose="05000000000000000000" pitchFamily="2" charset="2"/>
              <a:buChar char="Ø"/>
            </a:pPr>
            <a:r>
              <a:rPr lang="en-US" sz="1600" dirty="0"/>
              <a:t>NLP-based fake news identification has become an essential tool for stopping the spread of false information and ensuring that accurate information is shared</a:t>
            </a:r>
            <a:r>
              <a:rPr lang="en-IN" sz="1600" dirty="0"/>
              <a:t>.</a:t>
            </a:r>
          </a:p>
          <a:p>
            <a:pPr marL="342900" indent="-342900" algn="just">
              <a:lnSpc>
                <a:spcPct val="250000"/>
              </a:lnSpc>
              <a:buFont typeface="Wingdings" panose="05000000000000000000" pitchFamily="2" charset="2"/>
              <a:buChar char="Ø"/>
            </a:pPr>
            <a:endParaRPr lang="en-IN" sz="1600" dirty="0"/>
          </a:p>
          <a:p>
            <a:endParaRPr lang="en-IN" dirty="0"/>
          </a:p>
        </p:txBody>
      </p:sp>
      <p:pic>
        <p:nvPicPr>
          <p:cNvPr id="4" name="object 2">
            <a:extLst>
              <a:ext uri="{FF2B5EF4-FFF2-40B4-BE49-F238E27FC236}">
                <a16:creationId xmlns:a16="http://schemas.microsoft.com/office/drawing/2014/main" id="{34A6C944-C04E-41C5-93F2-8D9AC3737AF3}"/>
              </a:ext>
            </a:extLst>
          </p:cNvPr>
          <p:cNvPicPr/>
          <p:nvPr/>
        </p:nvPicPr>
        <p:blipFill>
          <a:blip r:embed="rId2" cstate="print"/>
          <a:stretch>
            <a:fillRect/>
          </a:stretch>
        </p:blipFill>
        <p:spPr>
          <a:xfrm>
            <a:off x="8083295" y="0"/>
            <a:ext cx="1060703" cy="830579"/>
          </a:xfrm>
          <a:prstGeom prst="rect">
            <a:avLst/>
          </a:prstGeom>
        </p:spPr>
      </p:pic>
    </p:spTree>
    <p:extLst>
      <p:ext uri="{BB962C8B-B14F-4D97-AF65-F5344CB8AC3E}">
        <p14:creationId xmlns:p14="http://schemas.microsoft.com/office/powerpoint/2010/main" val="880399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26DC7-A12F-49C4-B056-D75B5AE4271F}"/>
              </a:ext>
            </a:extLst>
          </p:cNvPr>
          <p:cNvSpPr>
            <a:spLocks noGrp="1"/>
          </p:cNvSpPr>
          <p:nvPr>
            <p:ph type="title"/>
          </p:nvPr>
        </p:nvSpPr>
        <p:spPr>
          <a:xfrm>
            <a:off x="2817875" y="209169"/>
            <a:ext cx="3508248" cy="369332"/>
          </a:xfrm>
        </p:spPr>
        <p:txBody>
          <a:bodyPr/>
          <a:lstStyle/>
          <a:p>
            <a:pPr algn="ctr"/>
            <a:r>
              <a:rPr lang="en-US" dirty="0"/>
              <a:t>REFERENCES</a:t>
            </a:r>
            <a:endParaRPr lang="en-IN" dirty="0"/>
          </a:p>
        </p:txBody>
      </p:sp>
      <p:sp>
        <p:nvSpPr>
          <p:cNvPr id="3" name="Text Placeholder 2">
            <a:extLst>
              <a:ext uri="{FF2B5EF4-FFF2-40B4-BE49-F238E27FC236}">
                <a16:creationId xmlns:a16="http://schemas.microsoft.com/office/drawing/2014/main" id="{4269A9BF-07E9-47C7-84B0-24BC163BA21E}"/>
              </a:ext>
            </a:extLst>
          </p:cNvPr>
          <p:cNvSpPr>
            <a:spLocks noGrp="1"/>
          </p:cNvSpPr>
          <p:nvPr>
            <p:ph type="body" idx="1"/>
          </p:nvPr>
        </p:nvSpPr>
        <p:spPr>
          <a:xfrm>
            <a:off x="276936" y="1047751"/>
            <a:ext cx="8590127" cy="3239605"/>
          </a:xfrm>
        </p:spPr>
        <p:txBody>
          <a:bodyPr/>
          <a:lstStyle/>
          <a:p>
            <a:pPr algn="just">
              <a:lnSpc>
                <a:spcPct val="200000"/>
              </a:lnSpc>
            </a:pPr>
            <a:r>
              <a:rPr lang="en-US" sz="1800" b="0" i="0" u="none" strike="noStrike" baseline="0" dirty="0">
                <a:solidFill>
                  <a:srgbClr val="000000"/>
                </a:solidFill>
                <a:latin typeface="Times New Roman" panose="02020603050405020304" pitchFamily="18" charset="0"/>
              </a:rPr>
              <a:t>1. "Python Crash Course: A Hands-On, Project-Based Introduction to Programming" </a:t>
            </a:r>
          </a:p>
          <a:p>
            <a:pPr algn="just">
              <a:lnSpc>
                <a:spcPct val="200000"/>
              </a:lnSpc>
            </a:pPr>
            <a:r>
              <a:rPr lang="en-IN" sz="1800" b="0" i="0" u="none" strike="noStrike" baseline="0" dirty="0">
                <a:solidFill>
                  <a:srgbClr val="000000"/>
                </a:solidFill>
                <a:latin typeface="Times New Roman" panose="02020603050405020304" pitchFamily="18" charset="0"/>
              </a:rPr>
              <a:t>Author: Eric Matthews , Publisher: No Starch Press ,Year of Publication: 2015 </a:t>
            </a:r>
          </a:p>
          <a:p>
            <a:pPr algn="just">
              <a:lnSpc>
                <a:spcPct val="200000"/>
              </a:lnSpc>
            </a:pPr>
            <a:r>
              <a:rPr lang="en-US" sz="1800" b="0" i="0" u="none" strike="noStrike" baseline="0" dirty="0">
                <a:solidFill>
                  <a:srgbClr val="000000"/>
                </a:solidFill>
                <a:latin typeface="Times New Roman" panose="02020603050405020304" pitchFamily="18" charset="0"/>
              </a:rPr>
              <a:t>2. "Automate the Boring Stuff with Python: Practical Programming for Total Beginners" </a:t>
            </a:r>
          </a:p>
          <a:p>
            <a:pPr algn="just">
              <a:lnSpc>
                <a:spcPct val="200000"/>
              </a:lnSpc>
            </a:pPr>
            <a:r>
              <a:rPr lang="en-IN" sz="1800" b="0" i="0" u="none" strike="noStrike" baseline="0" dirty="0">
                <a:solidFill>
                  <a:srgbClr val="000000"/>
                </a:solidFill>
                <a:latin typeface="Times New Roman" panose="02020603050405020304" pitchFamily="18" charset="0"/>
              </a:rPr>
              <a:t>Author: Al Swigert , Publisher: No Starch Press ,Year of Publication: 2015 </a:t>
            </a:r>
          </a:p>
          <a:p>
            <a:pPr algn="just">
              <a:lnSpc>
                <a:spcPct val="200000"/>
              </a:lnSpc>
            </a:pPr>
            <a:r>
              <a:rPr lang="en-IN" sz="1800" b="0" i="0" u="none" strike="noStrike" baseline="0" dirty="0">
                <a:solidFill>
                  <a:srgbClr val="000000"/>
                </a:solidFill>
                <a:latin typeface="Times New Roman" panose="02020603050405020304" pitchFamily="18" charset="0"/>
              </a:rPr>
              <a:t>3. "Python for Data Analysis" Author: Wes McKinney Publisher: O'Reilly Media .Year of Publication: 2017 </a:t>
            </a:r>
            <a:endParaRPr lang="en-IN" sz="1800" dirty="0"/>
          </a:p>
        </p:txBody>
      </p:sp>
      <p:pic>
        <p:nvPicPr>
          <p:cNvPr id="4" name="object 2">
            <a:extLst>
              <a:ext uri="{FF2B5EF4-FFF2-40B4-BE49-F238E27FC236}">
                <a16:creationId xmlns:a16="http://schemas.microsoft.com/office/drawing/2014/main" id="{C0F66744-A0C8-40B7-A212-75113C582FBC}"/>
              </a:ext>
            </a:extLst>
          </p:cNvPr>
          <p:cNvPicPr/>
          <p:nvPr/>
        </p:nvPicPr>
        <p:blipFill>
          <a:blip r:embed="rId2" cstate="print"/>
          <a:stretch>
            <a:fillRect/>
          </a:stretch>
        </p:blipFill>
        <p:spPr>
          <a:xfrm>
            <a:off x="8083295" y="0"/>
            <a:ext cx="1060703" cy="830579"/>
          </a:xfrm>
          <a:prstGeom prst="rect">
            <a:avLst/>
          </a:prstGeom>
        </p:spPr>
      </p:pic>
    </p:spTree>
    <p:extLst>
      <p:ext uri="{BB962C8B-B14F-4D97-AF65-F5344CB8AC3E}">
        <p14:creationId xmlns:p14="http://schemas.microsoft.com/office/powerpoint/2010/main" val="1793871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156</TotalTime>
  <Words>728</Words>
  <Application>Microsoft Office PowerPoint</Application>
  <PresentationFormat>On-screen Show (16:9)</PresentationFormat>
  <Paragraphs>77</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American Text</vt:lpstr>
      <vt:lpstr>Arial</vt:lpstr>
      <vt:lpstr>Calibri</vt:lpstr>
      <vt:lpstr>SegoeUIVariable</vt:lpstr>
      <vt:lpstr>Times New Roman</vt:lpstr>
      <vt:lpstr>Wingdings</vt:lpstr>
      <vt:lpstr>Office Theme</vt:lpstr>
      <vt:lpstr>Brindavan college of Engineering</vt:lpstr>
      <vt:lpstr>COMPANY PROFILE</vt:lpstr>
      <vt:lpstr>ABOUT PROJECT</vt:lpstr>
      <vt:lpstr>EXISTING SYSTEM</vt:lpstr>
      <vt:lpstr>PROPOSED SYSTEM</vt:lpstr>
      <vt:lpstr>       SOFTWARE AND HARDWARE REQUIREMENTS</vt:lpstr>
      <vt:lpstr>HARDWARE REQUIREMENTS</vt:lpstr>
      <vt:lpstr>ARCHITECTURE OF PROJECT</vt:lpstr>
      <vt:lpstr>FUNCTIONAL REQUIEMENTS</vt:lpstr>
      <vt:lpstr>NON FUNCTIONAL REQUIEMENTS</vt:lpstr>
      <vt:lpstr>USE CASE DIAGRAM</vt:lpstr>
      <vt:lpstr>ALGORITHMS</vt:lpstr>
      <vt:lpstr>SCREENSHOTS</vt:lpstr>
      <vt:lpstr>REAL CLASSIFICATION OF RESULTS</vt:lpstr>
      <vt:lpstr>PowerPoint Presentation</vt:lpstr>
      <vt:lpstr>TEST CASES</vt:lpstr>
      <vt:lpstr>FUTURE ENHANCMENT</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PHASE 2</dc:title>
  <dc:creator>ZETACODING</dc:creator>
  <cp:lastModifiedBy>Abhi T</cp:lastModifiedBy>
  <cp:revision>24</cp:revision>
  <dcterms:created xsi:type="dcterms:W3CDTF">2024-07-23T17:34:31Z</dcterms:created>
  <dcterms:modified xsi:type="dcterms:W3CDTF">2024-09-04T04:45:37Z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2024-04-21T00:00:00Z</vt:filetime>
  </property>
  <property fmtid="{D5CDD505-2E9C-101B-9397-08002B2CF9AE}" pid="3" name="Creator">
    <vt:lpwstr>Microsoft® PowerPoint® 2019</vt:lpwstr>
  </property>
  <property fmtid="{D5CDD505-2E9C-101B-9397-08002B2CF9AE}" pid="4" name="LastSaved">
    <vt:filetime>2024-07-23T00:00:00Z</vt:filetime>
  </property>
</Properties>
</file>