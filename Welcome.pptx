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60" r:id="rId2"/>
    <p:sldId id="277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72" r:id="rId16"/>
    <p:sldId id="273" r:id="rId17"/>
    <p:sldId id="274" r:id="rId18"/>
    <p:sldId id="275" r:id="rId19"/>
    <p:sldId id="276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2" autoAdjust="0"/>
  </p:normalViewPr>
  <p:slideViewPr>
    <p:cSldViewPr>
      <p:cViewPr varScale="1">
        <p:scale>
          <a:sx n="74" d="100"/>
          <a:sy n="74" d="100"/>
        </p:scale>
        <p:origin x="106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2933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2925286"/>
            <a:ext cx="9144000" cy="15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514600" y="2362200"/>
            <a:ext cx="4114800" cy="112776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 defTabSz="914400" rtl="0" eaLnBrk="1" latinLnBrk="0" hangingPunct="1">
              <a:spcBef>
                <a:spcPts val="400"/>
              </a:spcBef>
              <a:buNone/>
            </a:pPr>
            <a:endParaRPr lang="en-US" sz="1800" b="1" kern="1200" cap="all" spc="0" baseline="0">
              <a:solidFill>
                <a:schemeClr val="bg1"/>
              </a:solidFill>
              <a:latin typeface="+mj-lt"/>
              <a:ea typeface="+mj-ea"/>
              <a:cs typeface="Tunga" pitchFamily="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5400" y="3045460"/>
            <a:ext cx="4013200" cy="428625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600" b="0" i="0" cap="none" spc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565400" y="2397760"/>
            <a:ext cx="4013200" cy="599440"/>
          </a:xfrm>
          <a:noFill/>
          <a:ln>
            <a:noFill/>
          </a:ln>
        </p:spPr>
        <p:txBody>
          <a:bodyPr bIns="0" anchor="b"/>
          <a:lstStyle>
            <a:lvl1pPr>
              <a:defRPr>
                <a:effectLst>
                  <a:glow rad="88900">
                    <a:schemeClr val="tx1">
                      <a:alpha val="60000"/>
                    </a:schemeClr>
                  </a:glo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E34F8CD4-C334-4F82-A207-7D94311A3846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ACB62A-738A-4731-9446-6EEA39D694F6}" type="slidenum">
              <a:rPr lang="en-IN" smtClean="0"/>
              <a:t>‹#›</a:t>
            </a:fld>
            <a:endParaRPr lang="en-IN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457200" y="2020824"/>
            <a:ext cx="8229600" cy="4075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34F8CD4-C334-4F82-A207-7D94311A3846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2ACB62A-738A-4731-9446-6EEA39D694F6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922776"/>
            <a:ext cx="9144000" cy="29352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3921760"/>
            <a:ext cx="9144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514600" y="3368040"/>
            <a:ext cx="4114800" cy="112776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 defTabSz="914400" rtl="0" eaLnBrk="1" latinLnBrk="0" hangingPunct="1">
              <a:spcBef>
                <a:spcPts val="400"/>
              </a:spcBef>
              <a:buNone/>
            </a:pPr>
            <a:endParaRPr lang="en-US" sz="1800" b="1" kern="1200" cap="all" spc="0" baseline="0">
              <a:solidFill>
                <a:schemeClr val="bg1"/>
              </a:solidFill>
              <a:latin typeface="+mj-lt"/>
              <a:ea typeface="+mj-ea"/>
              <a:cs typeface="Tunga" pitchFamily="2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black">
          <a:xfrm>
            <a:off x="2529052" y="3367246"/>
            <a:ext cx="4085897" cy="706821"/>
          </a:xfrm>
          <a:prstGeom prst="rect">
            <a:avLst/>
          </a:prstGeom>
          <a:noFill/>
          <a:ln w="98425" cmpd="thinThick">
            <a:noFill/>
            <a:miter lim="800000"/>
          </a:ln>
        </p:spPr>
        <p:txBody>
          <a:bodyPr vert="horz" lIns="91440" tIns="45720" rIns="91440" bIns="0" rtlCol="0" anchor="b" anchorCtr="0">
            <a:normAutofit/>
          </a:bodyPr>
          <a:lstStyle>
            <a:lvl1pPr>
              <a:defRPr kumimoji="0" lang="en-US" sz="1800" b="1" i="0" u="none" strike="noStrike" kern="1200" cap="all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Tunga" pitchFamily="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 bwMode="black">
          <a:xfrm>
            <a:off x="2518542" y="4084577"/>
            <a:ext cx="4106917" cy="397094"/>
          </a:xfrm>
        </p:spPr>
        <p:txBody>
          <a:bodyPr tIns="0" anchor="t" anchorCtr="0">
            <a:normAutofit/>
          </a:bodyPr>
          <a:lstStyle>
            <a:lvl1pPr marL="0" indent="0" algn="ctr">
              <a:buNone/>
              <a:def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Tahom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F8CD4-C334-4F82-A207-7D94311A3846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ACB62A-738A-4731-9446-6EEA39D694F6}" type="slidenum">
              <a:rPr lang="en-IN" smtClean="0"/>
              <a:t>‹#›</a:t>
            </a:fld>
            <a:endParaRPr lang="en-I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0"/>
          <p:cNvSpPr>
            <a:spLocks noGrp="1"/>
          </p:cNvSpPr>
          <p:nvPr>
            <p:ph sz="quarter" idx="13"/>
          </p:nvPr>
        </p:nvSpPr>
        <p:spPr>
          <a:xfrm>
            <a:off x="457201" y="2020824"/>
            <a:ext cx="4023360" cy="40050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30"/>
          <p:cNvSpPr>
            <a:spLocks noGrp="1"/>
          </p:cNvSpPr>
          <p:nvPr>
            <p:ph sz="quarter" idx="14"/>
          </p:nvPr>
        </p:nvSpPr>
        <p:spPr>
          <a:xfrm>
            <a:off x="4663440" y="2020824"/>
            <a:ext cx="4023360" cy="40050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34F8CD4-C334-4F82-A207-7D94311A3846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ACB62A-738A-4731-9446-6EEA39D694F6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30"/>
          <p:cNvSpPr>
            <a:spLocks noGrp="1"/>
          </p:cNvSpPr>
          <p:nvPr>
            <p:ph sz="quarter" idx="13"/>
          </p:nvPr>
        </p:nvSpPr>
        <p:spPr>
          <a:xfrm>
            <a:off x="457201" y="2819400"/>
            <a:ext cx="4023360" cy="3209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Content Placeholder 30"/>
          <p:cNvSpPr>
            <a:spLocks noGrp="1"/>
          </p:cNvSpPr>
          <p:nvPr>
            <p:ph sz="quarter" idx="14"/>
          </p:nvPr>
        </p:nvSpPr>
        <p:spPr>
          <a:xfrm>
            <a:off x="4663440" y="2816352"/>
            <a:ext cx="4023360" cy="3209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020824"/>
            <a:ext cx="4023360" cy="704088"/>
          </a:xfrm>
          <a:noFill/>
          <a:ln w="98425" cmpd="thinThick">
            <a:noFill/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1" kern="1200" cap="none" spc="200" baseline="0" smtClean="0">
                <a:solidFill>
                  <a:schemeClr val="tx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5"/>
          </p:nvPr>
        </p:nvSpPr>
        <p:spPr>
          <a:xfrm>
            <a:off x="4663440" y="2020824"/>
            <a:ext cx="4023360" cy="704088"/>
          </a:xfrm>
          <a:noFill/>
          <a:ln w="98425" cmpd="thinThick">
            <a:noFill/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1" i="0" kern="1200" cap="none" spc="200" baseline="0" dirty="0" smtClean="0">
                <a:solidFill>
                  <a:schemeClr val="tx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34F8CD4-C334-4F82-A207-7D94311A3846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2ACB62A-738A-4731-9446-6EEA39D694F6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F8CD4-C334-4F82-A207-7D94311A3846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ACB62A-738A-4731-9446-6EEA39D694F6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F8CD4-C334-4F82-A207-7D94311A3846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ACB62A-738A-4731-9446-6EEA39D694F6}" type="slidenum">
              <a:rPr lang="en-IN" smtClean="0"/>
              <a:t>‹#›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0"/>
          <p:cNvSpPr>
            <a:spLocks noGrp="1"/>
          </p:cNvSpPr>
          <p:nvPr>
            <p:ph sz="quarter" idx="14"/>
          </p:nvPr>
        </p:nvSpPr>
        <p:spPr>
          <a:xfrm>
            <a:off x="1485900" y="1914525"/>
            <a:ext cx="6172200" cy="35109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7360" y="5513832"/>
            <a:ext cx="5669280" cy="548640"/>
          </a:xfrm>
        </p:spPr>
        <p:txBody>
          <a:bodyPr vert="horz" lIns="91440" tIns="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itchFamily="34" charset="0"/>
              <a:buNone/>
              <a:defRPr lang="en-US" sz="1400" b="0" i="0" kern="1200" cap="none" spc="0" baseline="0" smtClean="0">
                <a:solidFill>
                  <a:schemeClr val="tx1"/>
                </a:solidFill>
                <a:latin typeface="+mn-lt"/>
                <a:ea typeface="+mn-ea"/>
                <a:cs typeface="Tahoma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34F8CD4-C334-4F82-A207-7D94311A3846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ACB62A-738A-4731-9446-6EEA39D694F6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52209" y="2026918"/>
            <a:ext cx="5439582" cy="3263750"/>
          </a:xfrm>
          <a:solidFill>
            <a:schemeClr val="tx1"/>
          </a:solidFill>
          <a:ln w="69850" cmpd="dbl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0" kern="1200" cap="none" spc="0" baseline="0" dirty="0">
                <a:solidFill>
                  <a:schemeClr val="bg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1737360" y="5516880"/>
            <a:ext cx="5669280" cy="548640"/>
          </a:xfrm>
        </p:spPr>
        <p:txBody>
          <a:bodyPr vert="horz" lIns="91440" tIns="0" rIns="9144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1400" b="0" i="0" kern="1200" cap="none" spc="30" baseline="0" smtClean="0">
                <a:solidFill>
                  <a:schemeClr val="tx2"/>
                </a:solidFill>
                <a:latin typeface="+mn-lt"/>
                <a:ea typeface="+mn-ea"/>
                <a:cs typeface="Tahoma" pitchFamily="34" charset="0"/>
              </a:defRPr>
            </a:lvl1pPr>
            <a:lvl2pPr marL="171450" indent="1588">
              <a:buNone/>
              <a:defRPr>
                <a:solidFill>
                  <a:schemeClr val="bg2"/>
                </a:solidFill>
              </a:defRPr>
            </a:lvl2pPr>
            <a:lvl3pPr marL="344488" indent="6350">
              <a:buNone/>
              <a:defRPr>
                <a:solidFill>
                  <a:schemeClr val="bg2"/>
                </a:solidFill>
              </a:defRPr>
            </a:lvl3pPr>
            <a:lvl4pPr marL="515938" indent="3175">
              <a:buNone/>
              <a:defRPr>
                <a:solidFill>
                  <a:schemeClr val="bg2"/>
                </a:solidFill>
              </a:defRPr>
            </a:lvl4pPr>
            <a:lvl5pPr marL="688975" indent="-1588">
              <a:buNone/>
              <a:defRPr>
                <a:solidFill>
                  <a:schemeClr val="bg2"/>
                </a:solidFill>
              </a:defRPr>
            </a:lvl5pPr>
          </a:lstStyle>
          <a:p>
            <a:pPr marL="0" lvl="0" indent="0" algn="ctr" defTabSz="91440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514600" y="975360"/>
            <a:ext cx="4114800" cy="7010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>
          <a:xfrm>
            <a:off x="2981325" y="273180"/>
            <a:ext cx="3181350" cy="292100"/>
          </a:xfrm>
        </p:spPr>
        <p:txBody>
          <a:bodyPr/>
          <a:lstStyle/>
          <a:p>
            <a:fld id="{E34F8CD4-C334-4F82-A207-7D94311A3846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>
          <a:xfrm>
            <a:off x="4038600" y="6172200"/>
            <a:ext cx="1066800" cy="304800"/>
          </a:xfrm>
        </p:spPr>
        <p:txBody>
          <a:bodyPr/>
          <a:lstStyle/>
          <a:p>
            <a:fld id="{22ACB62A-738A-4731-9446-6EEA39D694F6}" type="slidenum">
              <a:rPr lang="en-IN" smtClean="0"/>
              <a:t>‹#›</a:t>
            </a:fld>
            <a:endParaRPr lang="en-I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6"/>
          </p:nvPr>
        </p:nvSpPr>
        <p:spPr>
          <a:xfrm>
            <a:off x="1447800" y="6486525"/>
            <a:ext cx="6248400" cy="292100"/>
          </a:xfr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F8CD4-C334-4F82-A207-7D94311A3846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CB62A-738A-4731-9446-6EEA39D694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rot="5400000">
            <a:off x="4267200" y="3429000"/>
            <a:ext cx="6858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 bwMode="hidden">
          <a:xfrm>
            <a:off x="0" y="1"/>
            <a:ext cx="7696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629400" cy="5029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F8CD4-C334-4F82-A207-7D94311A3846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CB62A-738A-4731-9446-6EEA39D694F6}" type="slidenum">
              <a:rPr lang="en-IN" smtClean="0"/>
              <a:t>‹#›</a:t>
            </a:fld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9000" y="914401"/>
            <a:ext cx="926980" cy="5029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hidden">
          <a:xfrm>
            <a:off x="0" y="1335973"/>
            <a:ext cx="9144000" cy="5522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19301"/>
            <a:ext cx="8229600" cy="4117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81325" y="273180"/>
            <a:ext cx="318135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cap="all" spc="300" baseline="0">
                <a:solidFill>
                  <a:schemeClr val="tx1"/>
                </a:solidFill>
              </a:defRPr>
            </a:lvl1pPr>
          </a:lstStyle>
          <a:p>
            <a:fld id="{E34F8CD4-C334-4F82-A207-7D94311A3846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7800" y="6486525"/>
            <a:ext cx="624840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100" b="0" cap="all" spc="300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38600" y="6172200"/>
            <a:ext cx="1066800" cy="3048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rm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22ACB62A-738A-4731-9446-6EEA39D694F6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1331436"/>
            <a:ext cx="9144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975360"/>
            <a:ext cx="4114800" cy="70104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ts val="400"/>
        </a:spcBef>
        <a:buNone/>
        <a:defRPr sz="1800" b="1" kern="1200" cap="all" spc="0" baseline="0">
          <a:solidFill>
            <a:schemeClr val="bg1">
              <a:lumMod val="75000"/>
              <a:lumOff val="25000"/>
            </a:schemeClr>
          </a:solidFill>
          <a:effectLst/>
          <a:latin typeface="+mj-lt"/>
          <a:ea typeface="+mj-ea"/>
          <a:cs typeface="Tunga" pitchFamily="2"/>
        </a:defRPr>
      </a:lvl1pPr>
    </p:titleStyle>
    <p:bodyStyle>
      <a:lvl1pPr marL="0" indent="0" algn="ctr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FontTx/>
        <a:buNone/>
        <a:defRPr sz="2000" b="0" i="0" kern="1200" cap="none" spc="30" baseline="0">
          <a:solidFill>
            <a:schemeClr val="tx1"/>
          </a:solidFill>
          <a:latin typeface="+mn-lt"/>
          <a:ea typeface="+mn-ea"/>
          <a:cs typeface="Tahoma" pitchFamily="34" charset="0"/>
        </a:defRPr>
      </a:lvl1pPr>
      <a:lvl2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800" kern="1200">
          <a:solidFill>
            <a:schemeClr val="tx2"/>
          </a:solidFill>
          <a:latin typeface="+mn-lt"/>
          <a:ea typeface="+mn-ea"/>
          <a:cs typeface="Tahoma" pitchFamily="34" charset="0"/>
        </a:defRPr>
      </a:lvl2pPr>
      <a:lvl3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600" kern="1200">
          <a:solidFill>
            <a:schemeClr val="tx1"/>
          </a:solidFill>
          <a:latin typeface="+mn-lt"/>
          <a:ea typeface="+mn-ea"/>
          <a:cs typeface="Tahoma" pitchFamily="34" charset="0"/>
        </a:defRPr>
      </a:lvl3pPr>
      <a:lvl4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400" kern="1200">
          <a:solidFill>
            <a:schemeClr val="tx2"/>
          </a:solidFill>
          <a:latin typeface="+mn-lt"/>
          <a:ea typeface="+mn-ea"/>
          <a:cs typeface="Tahoma" pitchFamily="34" charset="0"/>
        </a:defRPr>
      </a:lvl4pPr>
      <a:lvl5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400" kern="1200" baseline="0">
          <a:solidFill>
            <a:schemeClr val="tx1"/>
          </a:solidFill>
          <a:latin typeface="+mn-lt"/>
          <a:ea typeface="+mn-ea"/>
          <a:cs typeface="Tahoma" pitchFamily="34" charset="0"/>
        </a:defRPr>
      </a:lvl5pPr>
      <a:lvl6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5400" y="2397760"/>
            <a:ext cx="4013200" cy="1031240"/>
          </a:xfrm>
        </p:spPr>
        <p:txBody>
          <a:bodyPr>
            <a:norm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FAKE NEWS DETECTION USING AI</a:t>
            </a:r>
            <a:br>
              <a:rPr lang="en-IN" dirty="0">
                <a:latin typeface="Arial Black" panose="020B0A04020102020204" pitchFamily="34" charset="0"/>
              </a:rPr>
            </a:b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467544" y="260648"/>
            <a:ext cx="8136904" cy="178510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tx1"/>
                </a:solidFill>
                <a:latin typeface="Adobe Garamond Pro Bold" pitchFamily="18" charset="0"/>
              </a:rPr>
              <a:t>University BDT College of Engineering , Davangere.</a:t>
            </a:r>
          </a:p>
          <a:p>
            <a:pPr algn="ctr"/>
            <a:r>
              <a:rPr lang="en-I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Master of Computer Applications.</a:t>
            </a:r>
          </a:p>
          <a:p>
            <a:pPr algn="ctr"/>
            <a:endParaRPr lang="en-IN" dirty="0">
              <a:solidFill>
                <a:schemeClr val="tx1"/>
              </a:solidFill>
              <a:latin typeface="Adobe Garamond Pro Bold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504" y="4149080"/>
            <a:ext cx="3168352" cy="141577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rial Rounded MT Bold" panose="020F0704030504030204" pitchFamily="34" charset="0"/>
              </a:rPr>
              <a:t>Submitted </a:t>
            </a:r>
            <a:r>
              <a:rPr lang="en-IN" dirty="0">
                <a:latin typeface="Arial Rounded MT Bold" panose="020F0704030504030204" pitchFamily="34" charset="0"/>
              </a:rPr>
              <a:t>By</a:t>
            </a:r>
            <a:r>
              <a:rPr lang="en-IN" sz="3200" dirty="0">
                <a:latin typeface="Arial Rounded MT Bold" panose="020F0704030504030204" pitchFamily="34" charset="0"/>
              </a:rPr>
              <a:t>,</a:t>
            </a:r>
          </a:p>
          <a:p>
            <a:endParaRPr lang="en-IN" dirty="0"/>
          </a:p>
          <a:p>
            <a:r>
              <a:rPr lang="en-IN" sz="3600" dirty="0">
                <a:latin typeface="Arial Black" panose="020B0A04020102020204" pitchFamily="34" charset="0"/>
              </a:rPr>
              <a:t>MOHAN N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52120" y="4149080"/>
            <a:ext cx="324036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rial Rounded MT Bold" panose="020F0704030504030204" pitchFamily="34" charset="0"/>
              </a:rPr>
              <a:t>Guided</a:t>
            </a:r>
            <a:r>
              <a:rPr lang="en-IN" dirty="0">
                <a:latin typeface="Arial Rounded MT Bold" panose="020F0704030504030204" pitchFamily="34" charset="0"/>
              </a:rPr>
              <a:t> By</a:t>
            </a:r>
            <a:r>
              <a:rPr lang="en-IN" dirty="0"/>
              <a:t>,</a:t>
            </a:r>
          </a:p>
          <a:p>
            <a:endParaRPr lang="en-IN" dirty="0"/>
          </a:p>
          <a:p>
            <a:r>
              <a:rPr lang="en-IN" sz="2000" dirty="0">
                <a:latin typeface="Arial Black" panose="020B0A04020102020204" pitchFamily="34" charset="0"/>
              </a:rPr>
              <a:t>Dr. HARISH B G</a:t>
            </a:r>
          </a:p>
          <a:p>
            <a:endParaRPr lang="en-IN" sz="2000" dirty="0">
              <a:latin typeface="Arial Black" panose="020B0A04020102020204" pitchFamily="34" charset="0"/>
            </a:endParaRPr>
          </a:p>
          <a:p>
            <a:r>
              <a:rPr lang="en-IN" sz="2000" dirty="0">
                <a:latin typeface="Arial Black" panose="020B0A04020102020204" pitchFamily="34" charset="0"/>
              </a:rPr>
              <a:t>CHETAN KUMAR G 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1434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dirty="0"/>
              <a:t>What is Machine Learning?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dirty="0"/>
              <a:t>What is AI?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dirty="0"/>
              <a:t>Introduction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dirty="0"/>
              <a:t>Objective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dirty="0"/>
              <a:t>Tools and Technologies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dirty="0"/>
              <a:t>Hardware and Software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dirty="0"/>
              <a:t>Existing and Proposed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dirty="0"/>
              <a:t>Applications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dirty="0"/>
              <a:t>Conclusion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dirty="0"/>
              <a:t>Future Enhancement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IN" dirty="0"/>
          </a:p>
          <a:p>
            <a:pPr algn="just"/>
            <a:endParaRPr lang="en-IN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IN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IN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4224860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ML is an application of AI.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It’s the process of using mathematical models of data to help a computer learn without direct instruction.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This enables a computer system to continue learning and improving on its own, based on experience.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Machine Learning?</a:t>
            </a:r>
          </a:p>
        </p:txBody>
      </p:sp>
    </p:spTree>
    <p:extLst>
      <p:ext uri="{BB962C8B-B14F-4D97-AF65-F5344CB8AC3E}">
        <p14:creationId xmlns:p14="http://schemas.microsoft.com/office/powerpoint/2010/main" val="3592938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 dirty="0"/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AI is the science of making machines that can think like humans.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AI technology can process large amounts of data in ways, unlike humans.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The goal for AI is to be able to do things such as recognize patterns, make decisions, and judge like humans.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AI?</a:t>
            </a:r>
          </a:p>
        </p:txBody>
      </p:sp>
    </p:spTree>
    <p:extLst>
      <p:ext uri="{BB962C8B-B14F-4D97-AF65-F5344CB8AC3E}">
        <p14:creationId xmlns:p14="http://schemas.microsoft.com/office/powerpoint/2010/main" val="4173047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Natural language processing (NLP)-based fake news identification is a critical field for study and technology development targeted at halting the spread of misleading information. 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 digital age, fake news, or fraudulent information portrayed as true news, has grown to be a serious problem. Through social media sites and other online means, false information can spread quickly, potentially having negative social and political repercussions.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664912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>
          <a:xfrm>
            <a:off x="457200" y="1556792"/>
            <a:ext cx="8229600" cy="4450499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</a:t>
            </a:r>
            <a:r>
              <a:rPr lang="en-IN" dirty="0"/>
              <a:t>ata collection is the initial steps , which entails gathering a sizable and varied dataset of news stories from a variety of sources both reliable and imporvable.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The dataset provides the basis the NLP model’s testing and training.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Text processing is done on the data before it is fed into NLP model.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Feature Extraction to present the content in a numerical manner appropriate regarding machine learning algorithms.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1003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>
          <a:xfrm>
            <a:off x="457200" y="1988840"/>
            <a:ext cx="8229600" cy="4075176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i="0" dirty="0">
                <a:effectLst/>
                <a:latin typeface="Söhne"/>
              </a:rPr>
              <a:t>Identify and Mitigate Disinformation.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i="0" dirty="0">
                <a:effectLst/>
                <a:latin typeface="Söhne"/>
              </a:rPr>
              <a:t>Enhance Information Credibility.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i="0" dirty="0">
                <a:effectLst/>
                <a:latin typeface="Söhne"/>
              </a:rPr>
              <a:t>Reduce Harmful Consequences.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i="0" dirty="0">
                <a:effectLst/>
                <a:latin typeface="Söhne"/>
              </a:rPr>
              <a:t>Enhance Fact-Checking.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i="0" dirty="0">
                <a:effectLst/>
                <a:latin typeface="Söhne"/>
              </a:rPr>
              <a:t>Continuous Improvement.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3257562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Python Programming Language.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Machine Learning.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/>
              <a:t>NLP </a:t>
            </a:r>
            <a:r>
              <a:rPr lang="en-IN" dirty="0"/>
              <a:t>Libraries.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Data Visualisation Tool 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Virtual Environment.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and technologies</a:t>
            </a:r>
          </a:p>
        </p:txBody>
      </p:sp>
    </p:spTree>
    <p:extLst>
      <p:ext uri="{BB962C8B-B14F-4D97-AF65-F5344CB8AC3E}">
        <p14:creationId xmlns:p14="http://schemas.microsoft.com/office/powerpoint/2010/main" val="2309842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 dirty="0"/>
          </a:p>
          <a:p>
            <a:pPr algn="just"/>
            <a:r>
              <a:rPr lang="en-IN" dirty="0"/>
              <a:t>Hardware Requirements:</a:t>
            </a:r>
          </a:p>
          <a:p>
            <a:pPr algn="just"/>
            <a:endParaRPr lang="en-IN" dirty="0"/>
          </a:p>
          <a:p>
            <a:pPr marL="452628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          </a:t>
            </a:r>
            <a:r>
              <a:rPr lang="en-IN" sz="2400" dirty="0"/>
              <a:t>Processing Power :  Intel Core i3 or higher.</a:t>
            </a:r>
          </a:p>
          <a:p>
            <a:pPr marL="452628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        Memory(RAM)    :  8 GB to 32GB or more.</a:t>
            </a:r>
          </a:p>
          <a:p>
            <a:pPr marL="452628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        Storage                 :  Necessary storage capacity.</a:t>
            </a:r>
          </a:p>
          <a:p>
            <a:pPr marL="109728" indent="0">
              <a:buNone/>
            </a:pPr>
            <a:r>
              <a:rPr lang="en-IN" sz="2400" dirty="0"/>
              <a:t>           </a:t>
            </a:r>
          </a:p>
          <a:p>
            <a:pPr marL="109728" indent="0">
              <a:buNone/>
            </a:pPr>
            <a:endParaRPr lang="en-IN" sz="2400" dirty="0"/>
          </a:p>
          <a:p>
            <a:pPr marL="109728" indent="0">
              <a:buNone/>
            </a:pPr>
            <a:endParaRPr lang="en-IN" sz="2400" dirty="0"/>
          </a:p>
          <a:p>
            <a:pPr marL="109728" indent="0">
              <a:buNone/>
            </a:pPr>
            <a:endParaRPr lang="en-IN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HARDWARE AND SOFTWARE</a:t>
            </a:r>
          </a:p>
        </p:txBody>
      </p:sp>
    </p:spTree>
    <p:extLst>
      <p:ext uri="{BB962C8B-B14F-4D97-AF65-F5344CB8AC3E}">
        <p14:creationId xmlns:p14="http://schemas.microsoft.com/office/powerpoint/2010/main" val="3844606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>
          <a:xfrm>
            <a:off x="0" y="1412776"/>
            <a:ext cx="9144000" cy="4522507"/>
          </a:xfrm>
        </p:spPr>
        <p:txBody>
          <a:bodyPr/>
          <a:lstStyle/>
          <a:p>
            <a:pPr algn="l"/>
            <a:r>
              <a:rPr lang="en-IN" dirty="0"/>
              <a:t>Software Requirements:</a:t>
            </a:r>
          </a:p>
          <a:p>
            <a:pPr marL="109728" indent="0">
              <a:buNone/>
            </a:pPr>
            <a:endParaRPr lang="en-IN" dirty="0"/>
          </a:p>
          <a:p>
            <a:pPr marL="452628" indent="-342900" algn="just">
              <a:buFont typeface="Wingdings" panose="05000000000000000000" pitchFamily="2" charset="2"/>
              <a:buChar char="Ø"/>
            </a:pPr>
            <a:r>
              <a:rPr lang="en-IN" dirty="0"/>
              <a:t>          </a:t>
            </a:r>
            <a:r>
              <a:rPr lang="en-IN" sz="2400" dirty="0"/>
              <a:t>Front end                :  Bootstrap framework.</a:t>
            </a:r>
          </a:p>
          <a:p>
            <a:pPr marL="452628" indent="-342900" algn="just">
              <a:buFont typeface="Wingdings" panose="05000000000000000000" pitchFamily="2" charset="2"/>
              <a:buChar char="Ø"/>
            </a:pPr>
            <a:r>
              <a:rPr lang="en-IN" sz="2400" dirty="0"/>
              <a:t>        Back end                 :   Python.</a:t>
            </a:r>
          </a:p>
          <a:p>
            <a:pPr marL="452628" indent="-342900" algn="just">
              <a:buFont typeface="Wingdings" panose="05000000000000000000" pitchFamily="2" charset="2"/>
              <a:buChar char="Ø"/>
            </a:pPr>
            <a:r>
              <a:rPr lang="en-IN" dirty="0"/>
              <a:t>         </a:t>
            </a:r>
            <a:r>
              <a:rPr lang="en-IN" sz="2400" dirty="0"/>
              <a:t>Operating system     :  Window 7 or any compatible.</a:t>
            </a:r>
          </a:p>
          <a:p>
            <a:pPr marL="452628" indent="-342900" algn="l">
              <a:buFont typeface="Wingdings" panose="05000000000000000000" pitchFamily="2" charset="2"/>
              <a:buChar char="Ø"/>
            </a:pPr>
            <a:r>
              <a:rPr lang="en-IN" sz="2400" dirty="0"/>
              <a:t>        IDE            	           :  PyCharm, Visual studio , Anaconda,                                                            				   Jupyter Notebook.   </a:t>
            </a:r>
          </a:p>
          <a:p>
            <a:pPr marL="452628" indent="-342900" algn="just">
              <a:buFont typeface="Wingdings" panose="05000000000000000000" pitchFamily="2" charset="2"/>
              <a:buChar char="Ø"/>
            </a:pPr>
            <a:r>
              <a:rPr lang="en-IN" sz="2400" dirty="0"/>
              <a:t>        Web framework        :   Flask.</a:t>
            </a:r>
          </a:p>
          <a:p>
            <a:pPr marL="452628" indent="-342900" algn="just">
              <a:buFont typeface="Wingdings" panose="05000000000000000000" pitchFamily="2" charset="2"/>
              <a:buChar char="Ø"/>
            </a:pPr>
            <a:r>
              <a:rPr lang="en-IN" sz="2400" dirty="0"/>
              <a:t>         Libraries                  :  Pandas, Matplotlib,Sklearn,Numpy.   </a:t>
            </a:r>
          </a:p>
          <a:p>
            <a:pPr marL="109728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1140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IN" sz="3100" dirty="0"/>
              <a:t>Existing System </a:t>
            </a:r>
            <a:r>
              <a:rPr lang="en-IN" dirty="0"/>
              <a:t>:</a:t>
            </a:r>
          </a:p>
          <a:p>
            <a:pPr algn="just"/>
            <a:endParaRPr lang="en-IN" dirty="0"/>
          </a:p>
          <a:p>
            <a:pPr marL="452628" indent="-342900" algn="just">
              <a:buFont typeface="Wingdings" panose="05000000000000000000" pitchFamily="2" charset="2"/>
              <a:buChar char="Ø"/>
            </a:pPr>
            <a:r>
              <a:rPr lang="en-IN" sz="2400" dirty="0"/>
              <a:t> Fact-Checking and Verification.</a:t>
            </a:r>
          </a:p>
          <a:p>
            <a:pPr marL="452628" indent="-342900" algn="just">
              <a:buFont typeface="Wingdings" panose="05000000000000000000" pitchFamily="2" charset="2"/>
              <a:buChar char="Ø"/>
            </a:pPr>
            <a:r>
              <a:rPr lang="en-IN" sz="2400" dirty="0"/>
              <a:t> Source Reputation.</a:t>
            </a:r>
          </a:p>
          <a:p>
            <a:pPr marL="109728" algn="just"/>
            <a:endParaRPr lang="en-IN" sz="2400" dirty="0"/>
          </a:p>
          <a:p>
            <a:pPr marL="109728" algn="just"/>
            <a:endParaRPr lang="en-IN" dirty="0"/>
          </a:p>
          <a:p>
            <a:pPr algn="just"/>
            <a:r>
              <a:rPr lang="en-IN" sz="3100" dirty="0"/>
              <a:t>Praposed System :</a:t>
            </a:r>
          </a:p>
          <a:p>
            <a:pPr algn="just"/>
            <a:endParaRPr lang="en-IN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/>
              <a:t>Data Gathering and Preprocessing.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/>
              <a:t>Feature Extraction.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/>
              <a:t>Machine Learning Model.</a:t>
            </a:r>
          </a:p>
          <a:p>
            <a:pPr algn="just"/>
            <a:endParaRPr lang="en-IN" dirty="0"/>
          </a:p>
          <a:p>
            <a:pPr marL="109728" indent="0">
              <a:buNone/>
            </a:pPr>
            <a:r>
              <a:rPr lang="en-IN" sz="2400" dirty="0"/>
              <a:t>              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Existing and Praposed System</a:t>
            </a:r>
          </a:p>
        </p:txBody>
      </p:sp>
    </p:spTree>
    <p:extLst>
      <p:ext uri="{BB962C8B-B14F-4D97-AF65-F5344CB8AC3E}">
        <p14:creationId xmlns:p14="http://schemas.microsoft.com/office/powerpoint/2010/main" val="1982001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Media and Journalism.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Social Media and Online Platform.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Public Awareness.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Cyber Security.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Financial Markets.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Healthcare.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Academic Research.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Education.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</a:t>
            </a:r>
          </a:p>
        </p:txBody>
      </p:sp>
    </p:spTree>
    <p:extLst>
      <p:ext uri="{BB962C8B-B14F-4D97-AF65-F5344CB8AC3E}">
        <p14:creationId xmlns:p14="http://schemas.microsoft.com/office/powerpoint/2010/main" val="2980328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>
          <a:xfrm>
            <a:off x="498376" y="1864744"/>
            <a:ext cx="8147248" cy="4231256"/>
          </a:xfrm>
        </p:spPr>
        <p:txBody>
          <a:bodyPr/>
          <a:lstStyle/>
          <a:p>
            <a:pPr algn="just"/>
            <a:r>
              <a:rPr lang="en-US" dirty="0"/>
              <a:t>Before being utilized as an input for training the models, the that was retrieved from the corpus World Wide Web is subjected to some form of processing. 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Before being utilized as an input for training the models, the that was retrieved from the corpus World Wide Web is subjected to some form of processing. </a:t>
            </a:r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54B9DC2-A420-0116-542F-2CBE6B6AF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DIAGRAM</a:t>
            </a:r>
            <a:endParaRPr lang="en-IN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13A772B-9D9C-250B-E407-1DCA75C2E3CB}"/>
              </a:ext>
            </a:extLst>
          </p:cNvPr>
          <p:cNvGrpSpPr/>
          <p:nvPr/>
        </p:nvGrpSpPr>
        <p:grpSpPr>
          <a:xfrm>
            <a:off x="1331641" y="2942160"/>
            <a:ext cx="6552727" cy="4087240"/>
            <a:chOff x="0" y="-173048"/>
            <a:chExt cx="6254435" cy="4499249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406FE2C-75BE-DBDD-2D05-DE3152D82207}"/>
                </a:ext>
              </a:extLst>
            </p:cNvPr>
            <p:cNvSpPr/>
            <p:nvPr/>
          </p:nvSpPr>
          <p:spPr>
            <a:xfrm>
              <a:off x="5876671" y="3771113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1626F35-2671-BFBD-32A4-6BFB7301CBDE}"/>
                </a:ext>
              </a:extLst>
            </p:cNvPr>
            <p:cNvSpPr/>
            <p:nvPr/>
          </p:nvSpPr>
          <p:spPr>
            <a:xfrm>
              <a:off x="686" y="4131942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A259831-83CE-AD87-1C16-EFF4BBDB273C}"/>
                </a:ext>
              </a:extLst>
            </p:cNvPr>
            <p:cNvSpPr/>
            <p:nvPr/>
          </p:nvSpPr>
          <p:spPr>
            <a:xfrm>
              <a:off x="38786" y="4101821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43D67C5F-3714-FBAF-B1E2-68D2D4256153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837301" y="0"/>
              <a:ext cx="50292" cy="225552"/>
            </a:xfrm>
            <a:prstGeom prst="rect">
              <a:avLst/>
            </a:prstGeom>
          </p:spPr>
        </p:pic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C233068-4CD1-0B08-FAD0-5B2CB0E5AE77}"/>
                </a:ext>
              </a:extLst>
            </p:cNvPr>
            <p:cNvSpPr/>
            <p:nvPr/>
          </p:nvSpPr>
          <p:spPr>
            <a:xfrm>
              <a:off x="5838571" y="36319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FC06D48-8746-7CAB-CAEF-614B1CEB8B2D}"/>
                </a:ext>
              </a:extLst>
            </p:cNvPr>
            <p:cNvSpPr/>
            <p:nvPr/>
          </p:nvSpPr>
          <p:spPr>
            <a:xfrm>
              <a:off x="5876671" y="6198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732AAE41-8E95-A592-B259-211541F44B79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837301" y="362712"/>
              <a:ext cx="50292" cy="225552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DEECCD7-6AB8-7F78-58C7-987A3446474A}"/>
                </a:ext>
              </a:extLst>
            </p:cNvPr>
            <p:cNvSpPr/>
            <p:nvPr/>
          </p:nvSpPr>
          <p:spPr>
            <a:xfrm>
              <a:off x="5838571" y="399031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55F2E28-3129-D6DD-2240-0E0129530AFE}"/>
                </a:ext>
              </a:extLst>
            </p:cNvPr>
            <p:cNvSpPr/>
            <p:nvPr/>
          </p:nvSpPr>
          <p:spPr>
            <a:xfrm>
              <a:off x="5876671" y="368910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84579823-22BF-DFB5-7437-8143DE1B4A66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837301" y="729997"/>
              <a:ext cx="50292" cy="224028"/>
            </a:xfrm>
            <a:prstGeom prst="rect">
              <a:avLst/>
            </a:prstGeom>
          </p:spPr>
        </p:pic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351AF7A-F599-A4EA-E16A-10A545E6829D}"/>
                </a:ext>
              </a:extLst>
            </p:cNvPr>
            <p:cNvSpPr/>
            <p:nvPr/>
          </p:nvSpPr>
          <p:spPr>
            <a:xfrm>
              <a:off x="5838571" y="766314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207109B-CD5B-5627-BBBD-D387F096B058}"/>
                </a:ext>
              </a:extLst>
            </p:cNvPr>
            <p:cNvSpPr/>
            <p:nvPr/>
          </p:nvSpPr>
          <p:spPr>
            <a:xfrm>
              <a:off x="5876671" y="736194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CBD68536-3D70-1B4E-4BF2-42955148B747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837301" y="1092709"/>
              <a:ext cx="50292" cy="224028"/>
            </a:xfrm>
            <a:prstGeom prst="rect">
              <a:avLst/>
            </a:prstGeom>
          </p:spPr>
        </p:pic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7CDA218-7917-4EAE-412C-2C76C7CA59DD}"/>
                </a:ext>
              </a:extLst>
            </p:cNvPr>
            <p:cNvSpPr/>
            <p:nvPr/>
          </p:nvSpPr>
          <p:spPr>
            <a:xfrm>
              <a:off x="5838571" y="1127502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0D96EC1-1066-B255-748A-F3CEF6890638}"/>
                </a:ext>
              </a:extLst>
            </p:cNvPr>
            <p:cNvSpPr/>
            <p:nvPr/>
          </p:nvSpPr>
          <p:spPr>
            <a:xfrm>
              <a:off x="5876671" y="1097382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6766AA43-A67B-D9AB-DFCD-EE66F1757D80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837301" y="1458469"/>
              <a:ext cx="50292" cy="224028"/>
            </a:xfrm>
            <a:prstGeom prst="rect">
              <a:avLst/>
            </a:prstGeom>
          </p:spPr>
        </p:pic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83FF82E-5144-1BB5-8C9A-1D07199942B1}"/>
                </a:ext>
              </a:extLst>
            </p:cNvPr>
            <p:cNvSpPr/>
            <p:nvPr/>
          </p:nvSpPr>
          <p:spPr>
            <a:xfrm>
              <a:off x="5838571" y="1494786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4A747B4-5502-12F0-1040-A89873A1A6B2}"/>
                </a:ext>
              </a:extLst>
            </p:cNvPr>
            <p:cNvSpPr/>
            <p:nvPr/>
          </p:nvSpPr>
          <p:spPr>
            <a:xfrm>
              <a:off x="5876671" y="1464666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2048" name="Picture 2047">
              <a:extLst>
                <a:ext uri="{FF2B5EF4-FFF2-40B4-BE49-F238E27FC236}">
                  <a16:creationId xmlns:a16="http://schemas.microsoft.com/office/drawing/2014/main" id="{8EDBA715-D45C-F5C2-06DB-B0BCA9AC147F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837301" y="1821180"/>
              <a:ext cx="50292" cy="224028"/>
            </a:xfrm>
            <a:prstGeom prst="rect">
              <a:avLst/>
            </a:prstGeom>
          </p:spPr>
        </p:pic>
        <p:sp>
          <p:nvSpPr>
            <p:cNvPr id="2049" name="Rectangle 2048">
              <a:extLst>
                <a:ext uri="{FF2B5EF4-FFF2-40B4-BE49-F238E27FC236}">
                  <a16:creationId xmlns:a16="http://schemas.microsoft.com/office/drawing/2014/main" id="{60E7D395-4140-AF5A-755C-66545D37905D}"/>
                </a:ext>
              </a:extLst>
            </p:cNvPr>
            <p:cNvSpPr/>
            <p:nvPr/>
          </p:nvSpPr>
          <p:spPr>
            <a:xfrm>
              <a:off x="5838571" y="1857880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051" name="Rectangle 2050">
              <a:extLst>
                <a:ext uri="{FF2B5EF4-FFF2-40B4-BE49-F238E27FC236}">
                  <a16:creationId xmlns:a16="http://schemas.microsoft.com/office/drawing/2014/main" id="{DA0C9997-21B3-5FB3-77AE-871DDCA0718D}"/>
                </a:ext>
              </a:extLst>
            </p:cNvPr>
            <p:cNvSpPr/>
            <p:nvPr/>
          </p:nvSpPr>
          <p:spPr>
            <a:xfrm>
              <a:off x="5876671" y="1827759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2052" name="Picture 2051">
              <a:extLst>
                <a:ext uri="{FF2B5EF4-FFF2-40B4-BE49-F238E27FC236}">
                  <a16:creationId xmlns:a16="http://schemas.microsoft.com/office/drawing/2014/main" id="{11C2ABA1-E7DF-6418-9220-C424F452076B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837301" y="2186940"/>
              <a:ext cx="50292" cy="224028"/>
            </a:xfrm>
            <a:prstGeom prst="rect">
              <a:avLst/>
            </a:prstGeom>
          </p:spPr>
        </p:pic>
        <p:sp>
          <p:nvSpPr>
            <p:cNvPr id="2053" name="Rectangle 2052">
              <a:extLst>
                <a:ext uri="{FF2B5EF4-FFF2-40B4-BE49-F238E27FC236}">
                  <a16:creationId xmlns:a16="http://schemas.microsoft.com/office/drawing/2014/main" id="{19D9400B-8EDF-5570-BA87-02A62BFE82C1}"/>
                </a:ext>
              </a:extLst>
            </p:cNvPr>
            <p:cNvSpPr/>
            <p:nvPr/>
          </p:nvSpPr>
          <p:spPr>
            <a:xfrm>
              <a:off x="5838571" y="2223640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054" name="Rectangle 2053">
              <a:extLst>
                <a:ext uri="{FF2B5EF4-FFF2-40B4-BE49-F238E27FC236}">
                  <a16:creationId xmlns:a16="http://schemas.microsoft.com/office/drawing/2014/main" id="{C45EA875-04C7-778D-6D28-1340875A61CE}"/>
                </a:ext>
              </a:extLst>
            </p:cNvPr>
            <p:cNvSpPr/>
            <p:nvPr/>
          </p:nvSpPr>
          <p:spPr>
            <a:xfrm>
              <a:off x="5876671" y="2193519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2055" name="Picture 2054">
              <a:extLst>
                <a:ext uri="{FF2B5EF4-FFF2-40B4-BE49-F238E27FC236}">
                  <a16:creationId xmlns:a16="http://schemas.microsoft.com/office/drawing/2014/main" id="{536060A7-FB71-F593-D646-C039C4653DA7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837301" y="2552700"/>
              <a:ext cx="50292" cy="224028"/>
            </a:xfrm>
            <a:prstGeom prst="rect">
              <a:avLst/>
            </a:prstGeom>
          </p:spPr>
        </p:pic>
        <p:sp>
          <p:nvSpPr>
            <p:cNvPr id="2056" name="Rectangle 2055">
              <a:extLst>
                <a:ext uri="{FF2B5EF4-FFF2-40B4-BE49-F238E27FC236}">
                  <a16:creationId xmlns:a16="http://schemas.microsoft.com/office/drawing/2014/main" id="{1C41CA36-1317-8A5B-C28A-0B4E1C02C691}"/>
                </a:ext>
              </a:extLst>
            </p:cNvPr>
            <p:cNvSpPr/>
            <p:nvPr/>
          </p:nvSpPr>
          <p:spPr>
            <a:xfrm>
              <a:off x="5838571" y="2589399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057" name="Rectangle 2056">
              <a:extLst>
                <a:ext uri="{FF2B5EF4-FFF2-40B4-BE49-F238E27FC236}">
                  <a16:creationId xmlns:a16="http://schemas.microsoft.com/office/drawing/2014/main" id="{AD95C75F-47AD-B0A4-7FF9-8E4421C086C3}"/>
                </a:ext>
              </a:extLst>
            </p:cNvPr>
            <p:cNvSpPr/>
            <p:nvPr/>
          </p:nvSpPr>
          <p:spPr>
            <a:xfrm>
              <a:off x="5876671" y="2559279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2058" name="Picture 2057">
              <a:extLst>
                <a:ext uri="{FF2B5EF4-FFF2-40B4-BE49-F238E27FC236}">
                  <a16:creationId xmlns:a16="http://schemas.microsoft.com/office/drawing/2014/main" id="{AEA017EF-9292-82EB-1F04-C3667D3ABEEB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837301" y="2915413"/>
              <a:ext cx="50292" cy="224028"/>
            </a:xfrm>
            <a:prstGeom prst="rect">
              <a:avLst/>
            </a:prstGeom>
          </p:spPr>
        </p:pic>
        <p:sp>
          <p:nvSpPr>
            <p:cNvPr id="2059" name="Rectangle 2058">
              <a:extLst>
                <a:ext uri="{FF2B5EF4-FFF2-40B4-BE49-F238E27FC236}">
                  <a16:creationId xmlns:a16="http://schemas.microsoft.com/office/drawing/2014/main" id="{B2051F08-7BA0-DF9A-499D-EA6BBE685B31}"/>
                </a:ext>
              </a:extLst>
            </p:cNvPr>
            <p:cNvSpPr/>
            <p:nvPr/>
          </p:nvSpPr>
          <p:spPr>
            <a:xfrm>
              <a:off x="5838571" y="2952111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060" name="Rectangle 2059">
              <a:extLst>
                <a:ext uri="{FF2B5EF4-FFF2-40B4-BE49-F238E27FC236}">
                  <a16:creationId xmlns:a16="http://schemas.microsoft.com/office/drawing/2014/main" id="{AFE64BFB-F066-DC47-BD58-72A976DA8A95}"/>
                </a:ext>
              </a:extLst>
            </p:cNvPr>
            <p:cNvSpPr/>
            <p:nvPr/>
          </p:nvSpPr>
          <p:spPr>
            <a:xfrm>
              <a:off x="5876671" y="2921991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2061" name="Picture 2060">
              <a:extLst>
                <a:ext uri="{FF2B5EF4-FFF2-40B4-BE49-F238E27FC236}">
                  <a16:creationId xmlns:a16="http://schemas.microsoft.com/office/drawing/2014/main" id="{6CDE245A-8E52-354B-08A4-8B60BD0E45D0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837301" y="3281173"/>
              <a:ext cx="50292" cy="224028"/>
            </a:xfrm>
            <a:prstGeom prst="rect">
              <a:avLst/>
            </a:prstGeom>
          </p:spPr>
        </p:pic>
        <p:sp>
          <p:nvSpPr>
            <p:cNvPr id="2062" name="Rectangle 2061">
              <a:extLst>
                <a:ext uri="{FF2B5EF4-FFF2-40B4-BE49-F238E27FC236}">
                  <a16:creationId xmlns:a16="http://schemas.microsoft.com/office/drawing/2014/main" id="{B3E6B4F5-E33C-2E31-884E-83CDD4FA5BEF}"/>
                </a:ext>
              </a:extLst>
            </p:cNvPr>
            <p:cNvSpPr/>
            <p:nvPr/>
          </p:nvSpPr>
          <p:spPr>
            <a:xfrm>
              <a:off x="5838571" y="3317872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063" name="Rectangle 2062">
              <a:extLst>
                <a:ext uri="{FF2B5EF4-FFF2-40B4-BE49-F238E27FC236}">
                  <a16:creationId xmlns:a16="http://schemas.microsoft.com/office/drawing/2014/main" id="{54307A00-2257-7691-EB0F-5FC4933EA0B8}"/>
                </a:ext>
              </a:extLst>
            </p:cNvPr>
            <p:cNvSpPr/>
            <p:nvPr/>
          </p:nvSpPr>
          <p:spPr>
            <a:xfrm>
              <a:off x="5876671" y="3287751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2064" name="Picture 2063">
              <a:extLst>
                <a:ext uri="{FF2B5EF4-FFF2-40B4-BE49-F238E27FC236}">
                  <a16:creationId xmlns:a16="http://schemas.microsoft.com/office/drawing/2014/main" id="{0E1BBE45-C01F-17FA-9AB6-74959A4D5760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837301" y="3643885"/>
              <a:ext cx="50292" cy="224028"/>
            </a:xfrm>
            <a:prstGeom prst="rect">
              <a:avLst/>
            </a:prstGeom>
          </p:spPr>
        </p:pic>
        <p:sp>
          <p:nvSpPr>
            <p:cNvPr id="2065" name="Rectangle 2064">
              <a:extLst>
                <a:ext uri="{FF2B5EF4-FFF2-40B4-BE49-F238E27FC236}">
                  <a16:creationId xmlns:a16="http://schemas.microsoft.com/office/drawing/2014/main" id="{F3E018A1-EE8A-F98D-1B20-90C08B527B9F}"/>
                </a:ext>
              </a:extLst>
            </p:cNvPr>
            <p:cNvSpPr/>
            <p:nvPr/>
          </p:nvSpPr>
          <p:spPr>
            <a:xfrm>
              <a:off x="5838571" y="3680372"/>
              <a:ext cx="50774" cy="18475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066" name="Rectangle 2065">
              <a:extLst>
                <a:ext uri="{FF2B5EF4-FFF2-40B4-BE49-F238E27FC236}">
                  <a16:creationId xmlns:a16="http://schemas.microsoft.com/office/drawing/2014/main" id="{0E0A3657-4995-06B4-93F4-18C8E471F155}"/>
                </a:ext>
              </a:extLst>
            </p:cNvPr>
            <p:cNvSpPr/>
            <p:nvPr/>
          </p:nvSpPr>
          <p:spPr>
            <a:xfrm>
              <a:off x="5876671" y="3650192"/>
              <a:ext cx="50774" cy="224829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2067" name="Picture 2066">
              <a:extLst>
                <a:ext uri="{FF2B5EF4-FFF2-40B4-BE49-F238E27FC236}">
                  <a16:creationId xmlns:a16="http://schemas.microsoft.com/office/drawing/2014/main" id="{17F1CDE7-4201-4398-E519-5D5DA3352DB2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4763" y="-173048"/>
              <a:ext cx="6249672" cy="4073853"/>
            </a:xfrm>
            <a:prstGeom prst="rect">
              <a:avLst/>
            </a:prstGeom>
          </p:spPr>
        </p:pic>
        <p:sp>
          <p:nvSpPr>
            <p:cNvPr id="2068" name="Shape 1579">
              <a:extLst>
                <a:ext uri="{FF2B5EF4-FFF2-40B4-BE49-F238E27FC236}">
                  <a16:creationId xmlns:a16="http://schemas.microsoft.com/office/drawing/2014/main" id="{2C53A083-25B5-2945-C691-39AC31F5926F}"/>
                </a:ext>
              </a:extLst>
            </p:cNvPr>
            <p:cNvSpPr/>
            <p:nvPr/>
          </p:nvSpPr>
          <p:spPr>
            <a:xfrm>
              <a:off x="0" y="381"/>
              <a:ext cx="5724525" cy="3905250"/>
            </a:xfrm>
            <a:custGeom>
              <a:avLst/>
              <a:gdLst/>
              <a:ahLst/>
              <a:cxnLst/>
              <a:rect l="0" t="0" r="0" b="0"/>
              <a:pathLst>
                <a:path w="5724525" h="3905250">
                  <a:moveTo>
                    <a:pt x="0" y="3905250"/>
                  </a:moveTo>
                  <a:lnTo>
                    <a:pt x="5724525" y="3905250"/>
                  </a:lnTo>
                  <a:lnTo>
                    <a:pt x="5724525" y="0"/>
                  </a:lnTo>
                  <a:lnTo>
                    <a:pt x="0" y="0"/>
                  </a:lnTo>
                  <a:close/>
                </a:path>
              </a:pathLst>
            </a:custGeom>
            <a:ln w="9525" cap="flat">
              <a:round/>
            </a:ln>
          </p:spPr>
          <p:style>
            <a:lnRef idx="1">
              <a:srgbClr val="5B9BD5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893419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just"/>
            <a:r>
              <a:rPr lang="en-IN" dirty="0"/>
              <a:t> Dataset being Used.</a:t>
            </a:r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3818F8-8CE3-008B-73DC-6CFC5D4DF09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2492896"/>
            <a:ext cx="8229600" cy="4176464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004BFA9-813F-635C-4DBC-070D23EAD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5467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>
          <a:xfrm>
            <a:off x="457200" y="2020824"/>
            <a:ext cx="8229600" cy="4837176"/>
          </a:xfrm>
        </p:spPr>
        <p:txBody>
          <a:bodyPr/>
          <a:lstStyle/>
          <a:p>
            <a:pPr algn="just"/>
            <a:r>
              <a:rPr lang="en-IN" dirty="0"/>
              <a:t>Screen showing input form.</a:t>
            </a:r>
          </a:p>
          <a:p>
            <a:pPr algn="just"/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075BFEB-6474-4182-C2D6-D6D4E9CF8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form</a:t>
            </a:r>
            <a:endParaRPr lang="en-I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2BF8F3A-3F7A-BDCB-6463-C221F306B3E9}"/>
              </a:ext>
            </a:extLst>
          </p:cNvPr>
          <p:cNvGrpSpPr/>
          <p:nvPr/>
        </p:nvGrpSpPr>
        <p:grpSpPr>
          <a:xfrm>
            <a:off x="443307" y="2459192"/>
            <a:ext cx="8003231" cy="3960440"/>
            <a:chOff x="0" y="0"/>
            <a:chExt cx="5518226" cy="303501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865AEA2-DC95-F7B4-BB68-BD746FCC5003}"/>
                </a:ext>
              </a:extLst>
            </p:cNvPr>
            <p:cNvSpPr/>
            <p:nvPr/>
          </p:nvSpPr>
          <p:spPr>
            <a:xfrm>
              <a:off x="0" y="30120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DF0E0AF-3135-AAB6-F316-18D953CD4CA6}"/>
                </a:ext>
              </a:extLst>
            </p:cNvPr>
            <p:cNvSpPr/>
            <p:nvPr/>
          </p:nvSpPr>
          <p:spPr>
            <a:xfrm>
              <a:off x="38100" y="0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0C7C3CB-3591-63A1-6556-EFB0A9CF001E}"/>
                </a:ext>
              </a:extLst>
            </p:cNvPr>
            <p:cNvSpPr/>
            <p:nvPr/>
          </p:nvSpPr>
          <p:spPr>
            <a:xfrm>
              <a:off x="0" y="2840758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7DBEA9-5D96-A6F1-24F2-9414E0E8905F}"/>
                </a:ext>
              </a:extLst>
            </p:cNvPr>
            <p:cNvSpPr/>
            <p:nvPr/>
          </p:nvSpPr>
          <p:spPr>
            <a:xfrm>
              <a:off x="5467553" y="2810637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F5785A5-ACD2-CA49-F817-1C060E45C0FA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7795" y="258343"/>
              <a:ext cx="42672" cy="192024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C74DAE4-E7F5-6BBF-C110-F62C59CE1737}"/>
                </a:ext>
              </a:extLst>
            </p:cNvPr>
            <p:cNvSpPr/>
            <p:nvPr/>
          </p:nvSpPr>
          <p:spPr>
            <a:xfrm>
              <a:off x="38100" y="295296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DFB7735-A85A-DFB9-C399-AA3EF70A3C67}"/>
                </a:ext>
              </a:extLst>
            </p:cNvPr>
            <p:cNvSpPr/>
            <p:nvPr/>
          </p:nvSpPr>
          <p:spPr>
            <a:xfrm>
              <a:off x="76200" y="265176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E1A09A4-207C-3199-6F49-5A278F0F16C4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7795" y="506755"/>
              <a:ext cx="42672" cy="193548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65F3D1D-8DFC-6809-32F0-0AD1994B05C6}"/>
                </a:ext>
              </a:extLst>
            </p:cNvPr>
            <p:cNvSpPr/>
            <p:nvPr/>
          </p:nvSpPr>
          <p:spPr>
            <a:xfrm>
              <a:off x="38100" y="543708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041806-0989-E09F-4BBA-9FC22AB9F0C8}"/>
                </a:ext>
              </a:extLst>
            </p:cNvPr>
            <p:cNvSpPr/>
            <p:nvPr/>
          </p:nvSpPr>
          <p:spPr>
            <a:xfrm>
              <a:off x="76200" y="513588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3CA8205-EE45-2F1A-7BEB-C22A4CB13A15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7795" y="756691"/>
              <a:ext cx="42672" cy="193548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8809420-2D35-E16A-CEA9-3210DD8E8886}"/>
                </a:ext>
              </a:extLst>
            </p:cNvPr>
            <p:cNvSpPr/>
            <p:nvPr/>
          </p:nvSpPr>
          <p:spPr>
            <a:xfrm>
              <a:off x="38100" y="793644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E5B83CC-A563-6F61-11A5-8ACCB1FD8148}"/>
                </a:ext>
              </a:extLst>
            </p:cNvPr>
            <p:cNvSpPr/>
            <p:nvPr/>
          </p:nvSpPr>
          <p:spPr>
            <a:xfrm>
              <a:off x="76200" y="763524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78638BE-26D9-3979-DD90-12F7FD4B091C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7795" y="1003579"/>
              <a:ext cx="42672" cy="192024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B115FAD-0F0E-C7B1-6941-53E8454859A7}"/>
                </a:ext>
              </a:extLst>
            </p:cNvPr>
            <p:cNvSpPr/>
            <p:nvPr/>
          </p:nvSpPr>
          <p:spPr>
            <a:xfrm>
              <a:off x="38100" y="1040532"/>
              <a:ext cx="50673" cy="18438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0E56C2E-69B0-7DA4-C43E-66DC3D6BB69D}"/>
                </a:ext>
              </a:extLst>
            </p:cNvPr>
            <p:cNvSpPr/>
            <p:nvPr/>
          </p:nvSpPr>
          <p:spPr>
            <a:xfrm>
              <a:off x="76200" y="1010412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22101B6-EC49-A326-E7DC-031E4C341348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7795" y="1251991"/>
              <a:ext cx="42672" cy="193548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5DEA353-DB2E-440D-DDE8-6E2FA04BFE51}"/>
                </a:ext>
              </a:extLst>
            </p:cNvPr>
            <p:cNvSpPr/>
            <p:nvPr/>
          </p:nvSpPr>
          <p:spPr>
            <a:xfrm>
              <a:off x="38100" y="1288944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7ABDB0A-6A49-3E85-D367-28DC0F270A37}"/>
                </a:ext>
              </a:extLst>
            </p:cNvPr>
            <p:cNvSpPr/>
            <p:nvPr/>
          </p:nvSpPr>
          <p:spPr>
            <a:xfrm>
              <a:off x="76200" y="1258824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DF8F3ED1-1F7C-138C-1CE3-E74D5C1D84F0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7795" y="1501928"/>
              <a:ext cx="42672" cy="193548"/>
            </a:xfrm>
            <a:prstGeom prst="rect">
              <a:avLst/>
            </a:prstGeom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E94B99D-A4E2-668B-57A5-0DADE18A8BDA}"/>
                </a:ext>
              </a:extLst>
            </p:cNvPr>
            <p:cNvSpPr/>
            <p:nvPr/>
          </p:nvSpPr>
          <p:spPr>
            <a:xfrm>
              <a:off x="38100" y="1538881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73C113E-2CAD-B0EC-7D4F-655FA6C1CE95}"/>
                </a:ext>
              </a:extLst>
            </p:cNvPr>
            <p:cNvSpPr/>
            <p:nvPr/>
          </p:nvSpPr>
          <p:spPr>
            <a:xfrm>
              <a:off x="76200" y="1508760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074A8C6B-08C7-03F6-E474-8358AD0E9301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7795" y="1748815"/>
              <a:ext cx="42672" cy="193548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E003F56-3681-A991-8E41-39B8D628F312}"/>
                </a:ext>
              </a:extLst>
            </p:cNvPr>
            <p:cNvSpPr/>
            <p:nvPr/>
          </p:nvSpPr>
          <p:spPr>
            <a:xfrm>
              <a:off x="38100" y="1785768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D2AD229-56DA-03A0-850D-2026DF4B2CA0}"/>
                </a:ext>
              </a:extLst>
            </p:cNvPr>
            <p:cNvSpPr/>
            <p:nvPr/>
          </p:nvSpPr>
          <p:spPr>
            <a:xfrm>
              <a:off x="76200" y="1755648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17D7B568-57C4-2B3F-DF14-6B42D72366AC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7795" y="1997228"/>
              <a:ext cx="42672" cy="193548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01F2C99-9C91-34F5-D159-BB4E8E263D23}"/>
                </a:ext>
              </a:extLst>
            </p:cNvPr>
            <p:cNvSpPr/>
            <p:nvPr/>
          </p:nvSpPr>
          <p:spPr>
            <a:xfrm>
              <a:off x="38100" y="2034561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59158E3-531F-BC50-2FCD-5502E167080A}"/>
                </a:ext>
              </a:extLst>
            </p:cNvPr>
            <p:cNvSpPr/>
            <p:nvPr/>
          </p:nvSpPr>
          <p:spPr>
            <a:xfrm>
              <a:off x="76200" y="2004441"/>
              <a:ext cx="50673" cy="22438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76B54318-AAB1-2F68-97FD-AD77ECC9567B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7795" y="2247163"/>
              <a:ext cx="42672" cy="193548"/>
            </a:xfrm>
            <a:prstGeom prst="rect">
              <a:avLst/>
            </a:prstGeom>
          </p:spPr>
        </p:pic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8167A5E-9DC7-DA40-BEED-6D6DC591125C}"/>
                </a:ext>
              </a:extLst>
            </p:cNvPr>
            <p:cNvSpPr/>
            <p:nvPr/>
          </p:nvSpPr>
          <p:spPr>
            <a:xfrm>
              <a:off x="38100" y="2284497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92E56B2-129C-6599-B274-E6F58197A8EE}"/>
                </a:ext>
              </a:extLst>
            </p:cNvPr>
            <p:cNvSpPr/>
            <p:nvPr/>
          </p:nvSpPr>
          <p:spPr>
            <a:xfrm>
              <a:off x="76200" y="2254376"/>
              <a:ext cx="50673" cy="22438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1790A2C7-89B0-338C-F779-0929F4D392C4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7795" y="2494052"/>
              <a:ext cx="42672" cy="19354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B8F6C23-681F-2FC0-7889-17E4FDC86F9A}"/>
                </a:ext>
              </a:extLst>
            </p:cNvPr>
            <p:cNvSpPr/>
            <p:nvPr/>
          </p:nvSpPr>
          <p:spPr>
            <a:xfrm>
              <a:off x="38100" y="2531385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CBE7690-DB0F-E132-98D7-5624F241A9EE}"/>
                </a:ext>
              </a:extLst>
            </p:cNvPr>
            <p:cNvSpPr/>
            <p:nvPr/>
          </p:nvSpPr>
          <p:spPr>
            <a:xfrm>
              <a:off x="76200" y="2501265"/>
              <a:ext cx="50673" cy="224379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R="3937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0F27A6D9-7F9D-5231-0E60-3BFF1872D979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356438" y="266598"/>
              <a:ext cx="5087366" cy="2648204"/>
            </a:xfrm>
            <a:prstGeom prst="rect">
              <a:avLst/>
            </a:prstGeom>
          </p:spPr>
        </p:pic>
        <p:sp>
          <p:nvSpPr>
            <p:cNvPr id="42" name="Shape 2354">
              <a:extLst>
                <a:ext uri="{FF2B5EF4-FFF2-40B4-BE49-F238E27FC236}">
                  <a16:creationId xmlns:a16="http://schemas.microsoft.com/office/drawing/2014/main" id="{52A0204E-DEEA-9C69-4019-A7B0F65CCE8D}"/>
                </a:ext>
              </a:extLst>
            </p:cNvPr>
            <p:cNvSpPr/>
            <p:nvPr/>
          </p:nvSpPr>
          <p:spPr>
            <a:xfrm>
              <a:off x="352450" y="262407"/>
              <a:ext cx="5095494" cy="2656459"/>
            </a:xfrm>
            <a:custGeom>
              <a:avLst/>
              <a:gdLst/>
              <a:ahLst/>
              <a:cxnLst/>
              <a:rect l="0" t="0" r="0" b="0"/>
              <a:pathLst>
                <a:path w="5095494" h="2656459">
                  <a:moveTo>
                    <a:pt x="0" y="2656459"/>
                  </a:moveTo>
                  <a:lnTo>
                    <a:pt x="5095494" y="2656459"/>
                  </a:lnTo>
                  <a:lnTo>
                    <a:pt x="5095494" y="0"/>
                  </a:lnTo>
                  <a:lnTo>
                    <a:pt x="0" y="0"/>
                  </a:lnTo>
                  <a:close/>
                </a:path>
              </a:pathLst>
            </a:custGeom>
            <a:ln w="9525" cap="flat">
              <a:round/>
            </a:ln>
          </p:spPr>
          <p:style>
            <a:lnRef idx="1">
              <a:srgbClr val="5B9BD5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548292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 CLASSIFICATION OF RESULT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0B78C38-5454-C5BC-CC10-13DB32A90FED}"/>
              </a:ext>
            </a:extLst>
          </p:cNvPr>
          <p:cNvPicPr>
            <a:picLocks noGrp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11560" y="2020888"/>
            <a:ext cx="7848871" cy="42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154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>
          <a:xfrm>
            <a:off x="457200" y="2020824"/>
            <a:ext cx="8229600" cy="4576528"/>
          </a:xfrm>
        </p:spPr>
        <p:txBody>
          <a:bodyPr/>
          <a:lstStyle/>
          <a:p>
            <a:pPr algn="just"/>
            <a:endParaRPr lang="en-IN" dirty="0"/>
          </a:p>
          <a:p>
            <a:pPr algn="just"/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D2B9B7-8135-E812-9115-375D872A1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FAKE CLASSIFICATION OF RESULT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900F08-ACDD-5C71-827E-E40A762790B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27584" y="2204864"/>
            <a:ext cx="7488832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012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/>
              <a:t>NLP-based fake news identification has become an essential tool for stopping the spread of false information and ensuring that accurate information is shared</a:t>
            </a:r>
            <a:r>
              <a:rPr lang="en-IN" dirty="0"/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/>
              <a:t>Combining NLP techniques the use of machine learning models produced promising results in identifying real news articles from false ones.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/>
              <a:t>As we navigate the digital age , AI-powered solutions offer hope in the fight against fake news . stay informed and skeptical!</a:t>
            </a:r>
            <a:endParaRPr lang="en-IN" dirty="0"/>
          </a:p>
          <a:p>
            <a:pPr algn="just"/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776853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dirty="0"/>
              <a:t>Improving Accuracy and Effectiveness.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dirty="0"/>
              <a:t>Impact on Media Literacy and Democracy.</a:t>
            </a:r>
          </a:p>
          <a:p>
            <a:pPr algn="just"/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enhancement</a:t>
            </a:r>
          </a:p>
        </p:txBody>
      </p:sp>
    </p:spTree>
    <p:extLst>
      <p:ext uri="{BB962C8B-B14F-4D97-AF65-F5344CB8AC3E}">
        <p14:creationId xmlns:p14="http://schemas.microsoft.com/office/powerpoint/2010/main" val="42298513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ackTie">
  <a:themeElements>
    <a:clrScheme name="BlackTie">
      <a:dk1>
        <a:srgbClr val="000000"/>
      </a:dk1>
      <a:lt1>
        <a:srgbClr val="FFFFFF"/>
      </a:lt1>
      <a:dk2>
        <a:srgbClr val="46464A"/>
      </a:dk2>
      <a:lt2>
        <a:srgbClr val="E3DCCF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BlackTie">
      <a:maj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BlackTie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20000"/>
              </a:schemeClr>
            </a:gs>
            <a:gs pos="30000">
              <a:schemeClr val="phClr">
                <a:tint val="61000"/>
                <a:satMod val="220000"/>
              </a:schemeClr>
            </a:gs>
            <a:gs pos="45000">
              <a:schemeClr val="phClr">
                <a:tint val="66000"/>
                <a:satMod val="240000"/>
              </a:schemeClr>
            </a:gs>
            <a:gs pos="55000">
              <a:schemeClr val="phClr">
                <a:tint val="66000"/>
                <a:satMod val="220000"/>
              </a:schemeClr>
            </a:gs>
            <a:gs pos="73000">
              <a:schemeClr val="phClr">
                <a:tint val="61000"/>
                <a:satMod val="220000"/>
              </a:schemeClr>
            </a:gs>
            <a:gs pos="100000">
              <a:schemeClr val="phClr">
                <a:tint val="45000"/>
                <a:satMod val="22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  <a:satMod val="110000"/>
              </a:schemeClr>
            </a:gs>
            <a:gs pos="30000">
              <a:schemeClr val="phClr">
                <a:shade val="90000"/>
                <a:satMod val="120000"/>
              </a:schemeClr>
            </a:gs>
            <a:gs pos="45000">
              <a:schemeClr val="phClr">
                <a:shade val="100000"/>
                <a:satMod val="128000"/>
              </a:schemeClr>
            </a:gs>
            <a:gs pos="55000">
              <a:schemeClr val="phClr">
                <a:shade val="100000"/>
                <a:satMod val="128000"/>
              </a:schemeClr>
            </a:gs>
            <a:gs pos="73000">
              <a:schemeClr val="phClr">
                <a:shade val="90000"/>
                <a:satMod val="120000"/>
              </a:schemeClr>
            </a:gs>
            <a:gs pos="100000">
              <a:schemeClr val="phClr">
                <a:shade val="63000"/>
                <a:satMod val="110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190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7150" dist="38100" dir="5400000" algn="br" rotWithShape="0">
              <a:srgbClr val="000000">
                <a:alpha val="5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1800000"/>
            </a:lightRig>
          </a:scene3d>
          <a:sp3d>
            <a:bevelT w="44450" h="31750" prst="coolSlant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20000"/>
              </a:schemeClr>
            </a:duotone>
          </a:blip>
          <a:stretch/>
        </a:blip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30000"/>
                <a:satMod val="255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1103</TotalTime>
  <Words>726</Words>
  <Application>Microsoft Office PowerPoint</Application>
  <PresentationFormat>On-screen Show (4:3)</PresentationFormat>
  <Paragraphs>157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Adobe Garamond Pro Bold</vt:lpstr>
      <vt:lpstr>Arial</vt:lpstr>
      <vt:lpstr>Arial Black</vt:lpstr>
      <vt:lpstr>Arial Rounded MT Bold</vt:lpstr>
      <vt:lpstr>Garamond</vt:lpstr>
      <vt:lpstr>Söhne</vt:lpstr>
      <vt:lpstr>Times New Roman</vt:lpstr>
      <vt:lpstr>Wingdings</vt:lpstr>
      <vt:lpstr>BlackTie</vt:lpstr>
      <vt:lpstr>FAKE NEWS DETECTION USING AI </vt:lpstr>
      <vt:lpstr>contents</vt:lpstr>
      <vt:lpstr>What is Machine Learning?</vt:lpstr>
      <vt:lpstr>What is AI?</vt:lpstr>
      <vt:lpstr>INTRODUCTION</vt:lpstr>
      <vt:lpstr>PowerPoint Presentation</vt:lpstr>
      <vt:lpstr>OBJECTIVES</vt:lpstr>
      <vt:lpstr>Tools and technologies</vt:lpstr>
      <vt:lpstr>HARDWARE AND SOFTWARE</vt:lpstr>
      <vt:lpstr>PowerPoint Presentation</vt:lpstr>
      <vt:lpstr>Existing and Praposed System</vt:lpstr>
      <vt:lpstr>Applications</vt:lpstr>
      <vt:lpstr>CONTEXT DIAGRAM</vt:lpstr>
      <vt:lpstr>Screenshot</vt:lpstr>
      <vt:lpstr>Input form</vt:lpstr>
      <vt:lpstr>real CLASSIFICATION OF RESULT</vt:lpstr>
      <vt:lpstr>FAKE CLASSIFICATION OF RESULT</vt:lpstr>
      <vt:lpstr>Conclusion</vt:lpstr>
      <vt:lpstr>Future enhancement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sudheer</dc:creator>
  <cp:lastModifiedBy>MOHAN N J</cp:lastModifiedBy>
  <cp:revision>39</cp:revision>
  <dcterms:created xsi:type="dcterms:W3CDTF">2023-09-04T14:46:45Z</dcterms:created>
  <dcterms:modified xsi:type="dcterms:W3CDTF">2023-09-13T04:34:12Z</dcterms:modified>
</cp:coreProperties>
</file>